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889" r:id="rId3"/>
    <p:sldId id="1046" r:id="rId5"/>
    <p:sldId id="1072" r:id="rId6"/>
    <p:sldId id="1189" r:id="rId7"/>
    <p:sldId id="890" r:id="rId8"/>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104" userDrawn="1">
          <p15:clr>
            <a:srgbClr val="A4A3A4"/>
          </p15:clr>
        </p15:guide>
        <p15:guide id="4" orient="horz" pos="809" userDrawn="1">
          <p15:clr>
            <a:srgbClr val="A4A3A4"/>
          </p15:clr>
        </p15:guide>
        <p15:guide id="6" orient="horz" pos="370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FFFFFF"/>
    <a:srgbClr val="41719C"/>
    <a:srgbClr val="3870BA"/>
    <a:srgbClr val="BDD7EE"/>
    <a:srgbClr val="8FAADC"/>
    <a:srgbClr val="4472C4"/>
    <a:srgbClr val="2F5597"/>
    <a:srgbClr val="4D9BD4"/>
    <a:srgbClr val="0053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95" autoAdjust="0"/>
    <p:restoredTop sz="82339" autoAdjust="0"/>
  </p:normalViewPr>
  <p:slideViewPr>
    <p:cSldViewPr snapToGrid="0" showGuides="1">
      <p:cViewPr>
        <p:scale>
          <a:sx n="50" d="100"/>
          <a:sy n="50" d="100"/>
        </p:scale>
        <p:origin x="1176" y="504"/>
      </p:cViewPr>
      <p:guideLst>
        <p:guide pos="416"/>
        <p:guide pos="7104"/>
        <p:guide orient="horz" pos="809"/>
        <p:guide orient="horz" pos="370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31.xml"/><Relationship Id="rId12" Type="http://schemas.openxmlformats.org/officeDocument/2006/relationships/commentAuthors" Target="commentAuthors.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B5295-0690-45DE-9E01-B4636744B25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413C37-BE2C-4CB8-940D-F8BE2EE6293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各位老师同学大家好，今天我向大家汇报一下我这学期的课题进展，题目是催化氧化耦合选择性催化还原协同去除挥发性有机物和氮氧化物</a:t>
            </a:r>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我将从以下四个方面进行汇报</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VOCs来源广泛，主要污染源包括工业源、生活源。工业源主要包括石油炼制与石油化工、煤炭加工与转化等含VOCs原料的生产行业，油类（燃油、溶剂等）储存、运输和销售过程，涂料、油墨、胶粘剂、农药等以VOCs为原料的生产行业，涂装、印刷、粘合、工业清洗等含VOCs产品的使用过程；生活源包括建筑装饰装修、餐饮服务和服装干洗。</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VOCs来源广泛，主要污染源包括工业源、生活源。工业源主要包括石油炼制与石油化工、煤炭加工与转化等含VOCs原料的生产行业，油类（燃油、溶剂等）储存、运输和销售过程，涂料、油墨、胶粘剂、农药等以VOCs为原料的生产行业，涂装、印刷、粘合、工业清洗等含VOCs产品的使用过程；生活源包括建筑装饰装修、餐饮服务和服装干洗。</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我的汇报到此结束，敬请各位老师批评指正</a:t>
            </a:r>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grpSp>
        <p:nvGrpSpPr>
          <p:cNvPr id="10" name="组合 9"/>
          <p:cNvGrpSpPr/>
          <p:nvPr userDrawn="1"/>
        </p:nvGrpSpPr>
        <p:grpSpPr>
          <a:xfrm flipH="1" flipV="1">
            <a:off x="0" y="0"/>
            <a:ext cx="1280160" cy="685800"/>
            <a:chOff x="11489653" y="5119600"/>
            <a:chExt cx="702346" cy="1738401"/>
          </a:xfrm>
        </p:grpSpPr>
        <p:sp>
          <p:nvSpPr>
            <p:cNvPr id="11" name="任意多边形: 形状 10"/>
            <p:cNvSpPr/>
            <p:nvPr/>
          </p:nvSpPr>
          <p:spPr>
            <a:xfrm>
              <a:off x="11852771" y="6018366"/>
              <a:ext cx="339228" cy="839635"/>
            </a:xfrm>
            <a:custGeom>
              <a:avLst/>
              <a:gdLst>
                <a:gd name="connsiteX0" fmla="*/ 339228 w 339228"/>
                <a:gd name="connsiteY0" fmla="*/ 0 h 839635"/>
                <a:gd name="connsiteX1" fmla="*/ 339228 w 339228"/>
                <a:gd name="connsiteY1" fmla="*/ 839635 h 839635"/>
                <a:gd name="connsiteX2" fmla="*/ 0 w 339228"/>
                <a:gd name="connsiteY2" fmla="*/ 839635 h 839635"/>
              </a:gdLst>
              <a:ahLst/>
              <a:cxnLst>
                <a:cxn ang="0">
                  <a:pos x="connsiteX0" y="connsiteY0"/>
                </a:cxn>
                <a:cxn ang="0">
                  <a:pos x="connsiteX1" y="connsiteY1"/>
                </a:cxn>
                <a:cxn ang="0">
                  <a:pos x="connsiteX2" y="connsiteY2"/>
                </a:cxn>
              </a:cxnLst>
              <a:rect l="l" t="t" r="r" b="b"/>
              <a:pathLst>
                <a:path w="339228" h="839635">
                  <a:moveTo>
                    <a:pt x="339228" y="0"/>
                  </a:moveTo>
                  <a:lnTo>
                    <a:pt x="339228" y="839635"/>
                  </a:lnTo>
                  <a:lnTo>
                    <a:pt x="0" y="839635"/>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sp>
          <p:nvSpPr>
            <p:cNvPr id="12" name="任意多边形: 形状 11"/>
            <p:cNvSpPr/>
            <p:nvPr/>
          </p:nvSpPr>
          <p:spPr>
            <a:xfrm>
              <a:off x="11623086" y="5449864"/>
              <a:ext cx="568913" cy="1408137"/>
            </a:xfrm>
            <a:custGeom>
              <a:avLst/>
              <a:gdLst>
                <a:gd name="connsiteX0" fmla="*/ 568913 w 568913"/>
                <a:gd name="connsiteY0" fmla="*/ 0 h 1408137"/>
                <a:gd name="connsiteX1" fmla="*/ 568913 w 568913"/>
                <a:gd name="connsiteY1" fmla="*/ 643241 h 1408137"/>
                <a:gd name="connsiteX2" fmla="*/ 259881 w 568913"/>
                <a:gd name="connsiteY2" fmla="*/ 1408137 h 1408137"/>
                <a:gd name="connsiteX3" fmla="*/ 0 w 568913"/>
                <a:gd name="connsiteY3" fmla="*/ 1408137 h 1408137"/>
              </a:gdLst>
              <a:ahLst/>
              <a:cxnLst>
                <a:cxn ang="0">
                  <a:pos x="connsiteX0" y="connsiteY0"/>
                </a:cxn>
                <a:cxn ang="0">
                  <a:pos x="connsiteX1" y="connsiteY1"/>
                </a:cxn>
                <a:cxn ang="0">
                  <a:pos x="connsiteX2" y="connsiteY2"/>
                </a:cxn>
                <a:cxn ang="0">
                  <a:pos x="connsiteX3" y="connsiteY3"/>
                </a:cxn>
              </a:cxnLst>
              <a:rect l="l" t="t" r="r" b="b"/>
              <a:pathLst>
                <a:path w="568913" h="1408137">
                  <a:moveTo>
                    <a:pt x="568913" y="0"/>
                  </a:moveTo>
                  <a:lnTo>
                    <a:pt x="568913" y="643241"/>
                  </a:lnTo>
                  <a:lnTo>
                    <a:pt x="259881" y="1408137"/>
                  </a:lnTo>
                  <a:lnTo>
                    <a:pt x="0" y="1408137"/>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sp>
          <p:nvSpPr>
            <p:cNvPr id="13" name="任意多边形: 形状 12"/>
            <p:cNvSpPr/>
            <p:nvPr/>
          </p:nvSpPr>
          <p:spPr>
            <a:xfrm>
              <a:off x="11489653" y="5119600"/>
              <a:ext cx="702346" cy="1738401"/>
            </a:xfrm>
            <a:custGeom>
              <a:avLst/>
              <a:gdLst>
                <a:gd name="connsiteX0" fmla="*/ 702346 w 702346"/>
                <a:gd name="connsiteY0" fmla="*/ 0 h 1738401"/>
                <a:gd name="connsiteX1" fmla="*/ 702346 w 702346"/>
                <a:gd name="connsiteY1" fmla="*/ 428827 h 1738401"/>
                <a:gd name="connsiteX2" fmla="*/ 173254 w 702346"/>
                <a:gd name="connsiteY2" fmla="*/ 1738401 h 1738401"/>
                <a:gd name="connsiteX3" fmla="*/ 0 w 702346"/>
                <a:gd name="connsiteY3" fmla="*/ 1738401 h 1738401"/>
              </a:gdLst>
              <a:ahLst/>
              <a:cxnLst>
                <a:cxn ang="0">
                  <a:pos x="connsiteX0" y="connsiteY0"/>
                </a:cxn>
                <a:cxn ang="0">
                  <a:pos x="connsiteX1" y="connsiteY1"/>
                </a:cxn>
                <a:cxn ang="0">
                  <a:pos x="connsiteX2" y="connsiteY2"/>
                </a:cxn>
                <a:cxn ang="0">
                  <a:pos x="connsiteX3" y="connsiteY3"/>
                </a:cxn>
              </a:cxnLst>
              <a:rect l="l" t="t" r="r" b="b"/>
              <a:pathLst>
                <a:path w="702346" h="1738401">
                  <a:moveTo>
                    <a:pt x="702346" y="0"/>
                  </a:moveTo>
                  <a:lnTo>
                    <a:pt x="702346" y="428827"/>
                  </a:lnTo>
                  <a:lnTo>
                    <a:pt x="173254" y="1738401"/>
                  </a:lnTo>
                  <a:lnTo>
                    <a:pt x="0" y="1738401"/>
                  </a:lnTo>
                  <a:close/>
                </a:path>
              </a:pathLst>
            </a:custGeom>
            <a:solidFill>
              <a:srgbClr val="039ACF">
                <a:lumMod val="40000"/>
                <a:lumOff val="6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28A0092B-C50C-407E-A947-70E740481C1C}">
                <a14:useLocalDpi xmlns:a14="http://schemas.microsoft.com/office/drawing/2010/main" val="0"/>
              </a:ext>
            </a:extLst>
          </a:blip>
          <a:srcRect l="1" r="33919"/>
          <a:stretch>
            <a:fillRect/>
          </a:stretch>
        </p:blipFill>
        <p:spPr>
          <a:xfrm>
            <a:off x="2737536" y="-23325"/>
            <a:ext cx="9450900" cy="6862666"/>
          </a:xfrm>
          <a:prstGeom prst="rect">
            <a:avLst/>
          </a:prstGeom>
        </p:spPr>
      </p:pic>
      <p:sp>
        <p:nvSpPr>
          <p:cNvPr id="4" name="矩形 11"/>
          <p:cNvSpPr/>
          <p:nvPr/>
        </p:nvSpPr>
        <p:spPr>
          <a:xfrm flipH="1">
            <a:off x="0" y="-9329"/>
            <a:ext cx="9172142" cy="6858000"/>
          </a:xfrm>
          <a:custGeom>
            <a:avLst/>
            <a:gdLst/>
            <a:ahLst/>
            <a:cxnLst/>
            <a:rect l="l" t="t" r="r" b="b"/>
            <a:pathLst>
              <a:path w="6444208" h="5143500">
                <a:moveTo>
                  <a:pt x="2078067" y="0"/>
                </a:moveTo>
                <a:lnTo>
                  <a:pt x="6444208" y="0"/>
                </a:lnTo>
                <a:lnTo>
                  <a:pt x="6444208" y="5143500"/>
                </a:lnTo>
                <a:lnTo>
                  <a:pt x="0" y="51435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nvGrpSpPr>
          <p:cNvPr id="5" name="组合 4"/>
          <p:cNvGrpSpPr/>
          <p:nvPr/>
        </p:nvGrpSpPr>
        <p:grpSpPr>
          <a:xfrm flipH="1">
            <a:off x="6096000" y="-18659"/>
            <a:ext cx="3603649" cy="6858000"/>
            <a:chOff x="1531613" y="0"/>
            <a:chExt cx="3375826" cy="6858000"/>
          </a:xfrm>
        </p:grpSpPr>
        <p:sp>
          <p:nvSpPr>
            <p:cNvPr id="6" name="任意多边形: 形状 5"/>
            <p:cNvSpPr/>
            <p:nvPr/>
          </p:nvSpPr>
          <p:spPr>
            <a:xfrm>
              <a:off x="1761297" y="0"/>
              <a:ext cx="3146142" cy="6858000"/>
            </a:xfrm>
            <a:custGeom>
              <a:avLst/>
              <a:gdLst>
                <a:gd name="connsiteX0" fmla="*/ 2770756 w 3146142"/>
                <a:gd name="connsiteY0" fmla="*/ 0 h 6858000"/>
                <a:gd name="connsiteX1" fmla="*/ 3146142 w 3146142"/>
                <a:gd name="connsiteY1" fmla="*/ 0 h 6858000"/>
                <a:gd name="connsiteX2" fmla="*/ 375386 w 3146142"/>
                <a:gd name="connsiteY2" fmla="*/ 6858000 h 6858000"/>
                <a:gd name="connsiteX3" fmla="*/ 0 w 31461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6142" h="6858000">
                  <a:moveTo>
                    <a:pt x="2770756" y="0"/>
                  </a:moveTo>
                  <a:lnTo>
                    <a:pt x="3146142" y="0"/>
                  </a:lnTo>
                  <a:lnTo>
                    <a:pt x="375386" y="6858000"/>
                  </a:lnTo>
                  <a:lnTo>
                    <a:pt x="0" y="6858000"/>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7" name="任意多边形: 形状 6"/>
            <p:cNvSpPr/>
            <p:nvPr/>
          </p:nvSpPr>
          <p:spPr>
            <a:xfrm>
              <a:off x="1531613" y="0"/>
              <a:ext cx="3030637" cy="6858000"/>
            </a:xfrm>
            <a:custGeom>
              <a:avLst/>
              <a:gdLst>
                <a:gd name="connsiteX0" fmla="*/ 2770756 w 3030637"/>
                <a:gd name="connsiteY0" fmla="*/ 0 h 6858000"/>
                <a:gd name="connsiteX1" fmla="*/ 3030637 w 3030637"/>
                <a:gd name="connsiteY1" fmla="*/ 0 h 6858000"/>
                <a:gd name="connsiteX2" fmla="*/ 259881 w 3030637"/>
                <a:gd name="connsiteY2" fmla="*/ 6858000 h 6858000"/>
                <a:gd name="connsiteX3" fmla="*/ 0 w 30306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0637" h="6858000">
                  <a:moveTo>
                    <a:pt x="2770756" y="0"/>
                  </a:moveTo>
                  <a:lnTo>
                    <a:pt x="3030637" y="0"/>
                  </a:lnTo>
                  <a:lnTo>
                    <a:pt x="259881" y="6858000"/>
                  </a:lnTo>
                  <a:lnTo>
                    <a:pt x="0" y="6858000"/>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Normal"/>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2"/>
                    </a14:imgEffect>
                  </a14:imgLayer>
                </a14:imgProps>
              </a:ext>
              <a:ext uri="{28A0092B-C50C-407E-A947-70E740481C1C}">
                <a14:useLocalDpi xmlns:a14="http://schemas.microsoft.com/office/drawing/2010/main" val="0"/>
              </a:ext>
            </a:extLst>
          </a:blip>
          <a:srcRect l="19433" b="25926"/>
          <a:stretch>
            <a:fillRect/>
          </a:stretch>
        </p:blipFill>
        <p:spPr>
          <a:xfrm>
            <a:off x="0" y="0"/>
            <a:ext cx="9921730" cy="6909263"/>
          </a:xfrm>
          <a:prstGeom prst="rect">
            <a:avLst/>
          </a:prstGeom>
        </p:spPr>
      </p:pic>
      <p:sp>
        <p:nvSpPr>
          <p:cNvPr id="8" name="矩形 7"/>
          <p:cNvSpPr/>
          <p:nvPr userDrawn="1"/>
        </p:nvSpPr>
        <p:spPr>
          <a:xfrm>
            <a:off x="0" y="0"/>
            <a:ext cx="12227769" cy="6909263"/>
          </a:xfrm>
          <a:prstGeom prst="rect">
            <a:avLst/>
          </a:prstGeom>
          <a:gradFill flip="none" rotWithShape="1">
            <a:gsLst>
              <a:gs pos="0">
                <a:srgbClr val="1A5E87">
                  <a:alpha val="85000"/>
                </a:srgbClr>
              </a:gs>
              <a:gs pos="99000">
                <a:srgbClr val="04033F">
                  <a:alpha val="46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11"/>
          <p:cNvSpPr/>
          <p:nvPr userDrawn="1"/>
        </p:nvSpPr>
        <p:spPr>
          <a:xfrm>
            <a:off x="3635492" y="0"/>
            <a:ext cx="8592277" cy="6909262"/>
          </a:xfrm>
          <a:custGeom>
            <a:avLst/>
            <a:gdLst/>
            <a:ahLst/>
            <a:cxnLst/>
            <a:rect l="l" t="t" r="r" b="b"/>
            <a:pathLst>
              <a:path w="6444208" h="5143500">
                <a:moveTo>
                  <a:pt x="2078067" y="0"/>
                </a:moveTo>
                <a:lnTo>
                  <a:pt x="6444208" y="0"/>
                </a:lnTo>
                <a:lnTo>
                  <a:pt x="6444208" y="5143500"/>
                </a:lnTo>
                <a:lnTo>
                  <a:pt x="0" y="51435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nvGrpSpPr>
          <p:cNvPr id="10" name="组合 9"/>
          <p:cNvGrpSpPr/>
          <p:nvPr userDrawn="1"/>
        </p:nvGrpSpPr>
        <p:grpSpPr>
          <a:xfrm>
            <a:off x="3078548" y="0"/>
            <a:ext cx="3375827" cy="6909262"/>
            <a:chOff x="1531612" y="0"/>
            <a:chExt cx="3375827" cy="6858000"/>
          </a:xfrm>
        </p:grpSpPr>
        <p:sp>
          <p:nvSpPr>
            <p:cNvPr id="11" name="任意多边形: 形状 10"/>
            <p:cNvSpPr/>
            <p:nvPr/>
          </p:nvSpPr>
          <p:spPr>
            <a:xfrm>
              <a:off x="1761297" y="0"/>
              <a:ext cx="3146142" cy="6858000"/>
            </a:xfrm>
            <a:custGeom>
              <a:avLst/>
              <a:gdLst>
                <a:gd name="connsiteX0" fmla="*/ 2770756 w 3146142"/>
                <a:gd name="connsiteY0" fmla="*/ 0 h 6858000"/>
                <a:gd name="connsiteX1" fmla="*/ 3146142 w 3146142"/>
                <a:gd name="connsiteY1" fmla="*/ 0 h 6858000"/>
                <a:gd name="connsiteX2" fmla="*/ 375386 w 3146142"/>
                <a:gd name="connsiteY2" fmla="*/ 6858000 h 6858000"/>
                <a:gd name="connsiteX3" fmla="*/ 0 w 31461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6142" h="6858000">
                  <a:moveTo>
                    <a:pt x="2770756" y="0"/>
                  </a:moveTo>
                  <a:lnTo>
                    <a:pt x="3146142" y="0"/>
                  </a:lnTo>
                  <a:lnTo>
                    <a:pt x="375386" y="6858000"/>
                  </a:lnTo>
                  <a:lnTo>
                    <a:pt x="0" y="6858000"/>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12" name="任意多边形: 形状 11"/>
            <p:cNvSpPr/>
            <p:nvPr/>
          </p:nvSpPr>
          <p:spPr>
            <a:xfrm>
              <a:off x="1531612" y="0"/>
              <a:ext cx="3030637" cy="6858000"/>
            </a:xfrm>
            <a:custGeom>
              <a:avLst/>
              <a:gdLst>
                <a:gd name="connsiteX0" fmla="*/ 2770756 w 3030637"/>
                <a:gd name="connsiteY0" fmla="*/ 0 h 6858000"/>
                <a:gd name="connsiteX1" fmla="*/ 3030637 w 3030637"/>
                <a:gd name="connsiteY1" fmla="*/ 0 h 6858000"/>
                <a:gd name="connsiteX2" fmla="*/ 259881 w 3030637"/>
                <a:gd name="connsiteY2" fmla="*/ 6858000 h 6858000"/>
                <a:gd name="connsiteX3" fmla="*/ 0 w 30306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0637" h="6858000">
                  <a:moveTo>
                    <a:pt x="2770756" y="0"/>
                  </a:moveTo>
                  <a:lnTo>
                    <a:pt x="3030637" y="0"/>
                  </a:lnTo>
                  <a:lnTo>
                    <a:pt x="259881" y="6858000"/>
                  </a:lnTo>
                  <a:lnTo>
                    <a:pt x="0" y="6858000"/>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grpSp>
        <p:nvGrpSpPr>
          <p:cNvPr id="14" name="组合 13"/>
          <p:cNvGrpSpPr/>
          <p:nvPr userDrawn="1"/>
        </p:nvGrpSpPr>
        <p:grpSpPr>
          <a:xfrm>
            <a:off x="11698028" y="5577840"/>
            <a:ext cx="529752" cy="1331422"/>
            <a:chOff x="11489652" y="4991405"/>
            <a:chExt cx="753203" cy="1866596"/>
          </a:xfrm>
        </p:grpSpPr>
        <p:sp>
          <p:nvSpPr>
            <p:cNvPr id="15" name="任意多边形: 形状 14"/>
            <p:cNvSpPr/>
            <p:nvPr/>
          </p:nvSpPr>
          <p:spPr>
            <a:xfrm>
              <a:off x="11680176" y="5504185"/>
              <a:ext cx="562679" cy="1353816"/>
            </a:xfrm>
            <a:custGeom>
              <a:avLst/>
              <a:gdLst>
                <a:gd name="connsiteX0" fmla="*/ 339228 w 339228"/>
                <a:gd name="connsiteY0" fmla="*/ 0 h 839635"/>
                <a:gd name="connsiteX1" fmla="*/ 339228 w 339228"/>
                <a:gd name="connsiteY1" fmla="*/ 839635 h 839635"/>
                <a:gd name="connsiteX2" fmla="*/ 0 w 339228"/>
                <a:gd name="connsiteY2" fmla="*/ 839635 h 839635"/>
              </a:gdLst>
              <a:ahLst/>
              <a:cxnLst>
                <a:cxn ang="0">
                  <a:pos x="connsiteX0" y="connsiteY0"/>
                </a:cxn>
                <a:cxn ang="0">
                  <a:pos x="connsiteX1" y="connsiteY1"/>
                </a:cxn>
                <a:cxn ang="0">
                  <a:pos x="connsiteX2" y="connsiteY2"/>
                </a:cxn>
              </a:cxnLst>
              <a:rect l="l" t="t" r="r" b="b"/>
              <a:pathLst>
                <a:path w="339228" h="839635">
                  <a:moveTo>
                    <a:pt x="339228" y="0"/>
                  </a:moveTo>
                  <a:lnTo>
                    <a:pt x="339228" y="839635"/>
                  </a:lnTo>
                  <a:lnTo>
                    <a:pt x="0" y="839635"/>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17" name="任意多边形: 形状 16"/>
            <p:cNvSpPr/>
            <p:nvPr userDrawn="1"/>
          </p:nvSpPr>
          <p:spPr>
            <a:xfrm>
              <a:off x="11489652" y="4991405"/>
              <a:ext cx="753193" cy="1866596"/>
            </a:xfrm>
            <a:custGeom>
              <a:avLst/>
              <a:gdLst>
                <a:gd name="connsiteX0" fmla="*/ 702346 w 702346"/>
                <a:gd name="connsiteY0" fmla="*/ 0 h 1738401"/>
                <a:gd name="connsiteX1" fmla="*/ 702346 w 702346"/>
                <a:gd name="connsiteY1" fmla="*/ 428827 h 1738401"/>
                <a:gd name="connsiteX2" fmla="*/ 173254 w 702346"/>
                <a:gd name="connsiteY2" fmla="*/ 1738401 h 1738401"/>
                <a:gd name="connsiteX3" fmla="*/ 0 w 702346"/>
                <a:gd name="connsiteY3" fmla="*/ 1738401 h 1738401"/>
              </a:gdLst>
              <a:ahLst/>
              <a:cxnLst>
                <a:cxn ang="0">
                  <a:pos x="connsiteX0" y="connsiteY0"/>
                </a:cxn>
                <a:cxn ang="0">
                  <a:pos x="connsiteX1" y="connsiteY1"/>
                </a:cxn>
                <a:cxn ang="0">
                  <a:pos x="connsiteX2" y="connsiteY2"/>
                </a:cxn>
                <a:cxn ang="0">
                  <a:pos x="connsiteX3" y="connsiteY3"/>
                </a:cxn>
              </a:cxnLst>
              <a:rect l="l" t="t" r="r" b="b"/>
              <a:pathLst>
                <a:path w="702346" h="1738401">
                  <a:moveTo>
                    <a:pt x="702346" y="0"/>
                  </a:moveTo>
                  <a:lnTo>
                    <a:pt x="702346" y="428827"/>
                  </a:lnTo>
                  <a:lnTo>
                    <a:pt x="173254" y="1738401"/>
                  </a:lnTo>
                  <a:lnTo>
                    <a:pt x="0" y="1738401"/>
                  </a:lnTo>
                  <a:close/>
                </a:path>
              </a:pathLst>
            </a:custGeom>
            <a:solidFill>
              <a:srgbClr val="039ACF">
                <a:lumMod val="40000"/>
                <a:lumOff val="6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3" name="组合 2"/>
          <p:cNvGrpSpPr/>
          <p:nvPr userDrawn="1"/>
        </p:nvGrpSpPr>
        <p:grpSpPr>
          <a:xfrm>
            <a:off x="-61453" y="-11151"/>
            <a:ext cx="12314904" cy="6909263"/>
            <a:chOff x="-61453" y="-11151"/>
            <a:chExt cx="12314904" cy="6909263"/>
          </a:xfrm>
        </p:grpSpPr>
        <p:pic>
          <p:nvPicPr>
            <p:cNvPr id="4" name="图片 3"/>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2"/>
                      </a14:imgEffect>
                    </a14:imgLayer>
                  </a14:imgProps>
                </a:ext>
                <a:ext uri="{28A0092B-C50C-407E-A947-70E740481C1C}">
                  <a14:useLocalDpi xmlns:a14="http://schemas.microsoft.com/office/drawing/2010/main" val="0"/>
                </a:ext>
              </a:extLst>
            </a:blip>
            <a:srcRect b="25926"/>
            <a:stretch>
              <a:fillRect/>
            </a:stretch>
          </p:blipFill>
          <p:spPr>
            <a:xfrm>
              <a:off x="-61452" y="-11151"/>
              <a:ext cx="12314903" cy="6909263"/>
            </a:xfrm>
            <a:prstGeom prst="rect">
              <a:avLst/>
            </a:prstGeom>
          </p:spPr>
        </p:pic>
        <p:sp>
          <p:nvSpPr>
            <p:cNvPr id="5" name="矩形 4"/>
            <p:cNvSpPr/>
            <p:nvPr userDrawn="1"/>
          </p:nvSpPr>
          <p:spPr>
            <a:xfrm>
              <a:off x="-61453" y="0"/>
              <a:ext cx="12314903" cy="6898112"/>
            </a:xfrm>
            <a:prstGeom prst="rect">
              <a:avLst/>
            </a:prstGeom>
            <a:gradFill flip="none" rotWithShape="1">
              <a:gsLst>
                <a:gs pos="0">
                  <a:srgbClr val="1A5E87"/>
                </a:gs>
                <a:gs pos="100000">
                  <a:srgbClr val="04033F">
                    <a:alpha val="8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394159" y="310888"/>
            <a:ext cx="682341" cy="539179"/>
            <a:chOff x="1801006" y="1526207"/>
            <a:chExt cx="1242672" cy="981947"/>
          </a:xfrm>
        </p:grpSpPr>
        <p:sp>
          <p:nvSpPr>
            <p:cNvPr id="5" name="矩形 4"/>
            <p:cNvSpPr/>
            <p:nvPr userDrawn="1"/>
          </p:nvSpPr>
          <p:spPr>
            <a:xfrm>
              <a:off x="2224301" y="1732937"/>
              <a:ext cx="819377" cy="695740"/>
            </a:xfrm>
            <a:prstGeom prst="rect">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6" name="任意多边形 13"/>
            <p:cNvSpPr/>
            <p:nvPr userDrawn="1"/>
          </p:nvSpPr>
          <p:spPr>
            <a:xfrm>
              <a:off x="1801006" y="1526207"/>
              <a:ext cx="1063935" cy="981947"/>
            </a:xfrm>
            <a:custGeom>
              <a:avLst/>
              <a:gdLst>
                <a:gd name="connsiteX0" fmla="*/ 0 w 2864941"/>
                <a:gd name="connsiteY0" fmla="*/ 0 h 981947"/>
                <a:gd name="connsiteX1" fmla="*/ 2864941 w 2864941"/>
                <a:gd name="connsiteY1" fmla="*/ 0 h 981947"/>
                <a:gd name="connsiteX2" fmla="*/ 2041802 w 2864941"/>
                <a:gd name="connsiteY2" fmla="*/ 981947 h 981947"/>
                <a:gd name="connsiteX3" fmla="*/ 0 w 2864941"/>
                <a:gd name="connsiteY3" fmla="*/ 981947 h 981947"/>
              </a:gdLst>
              <a:ahLst/>
              <a:cxnLst>
                <a:cxn ang="0">
                  <a:pos x="connsiteX0" y="connsiteY0"/>
                </a:cxn>
                <a:cxn ang="0">
                  <a:pos x="connsiteX1" y="connsiteY1"/>
                </a:cxn>
                <a:cxn ang="0">
                  <a:pos x="connsiteX2" y="connsiteY2"/>
                </a:cxn>
                <a:cxn ang="0">
                  <a:pos x="connsiteX3" y="connsiteY3"/>
                </a:cxn>
              </a:cxnLst>
              <a:rect l="l" t="t" r="r" b="b"/>
              <a:pathLst>
                <a:path w="2864941" h="981947">
                  <a:moveTo>
                    <a:pt x="0" y="0"/>
                  </a:moveTo>
                  <a:lnTo>
                    <a:pt x="2864941" y="0"/>
                  </a:lnTo>
                  <a:lnTo>
                    <a:pt x="2041802" y="981947"/>
                  </a:lnTo>
                  <a:lnTo>
                    <a:pt x="0" y="981947"/>
                  </a:lnTo>
                  <a:close/>
                </a:path>
              </a:pathLst>
            </a:custGeom>
            <a:solidFill>
              <a:srgbClr val="005AA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AFEDE3F9-31AA-4ADE-8279-A8BD91F97E6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1F653C6C-BB18-44DC-8436-C8EF7FC48A0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6.jpeg"/><Relationship Id="rId11" Type="http://schemas.openxmlformats.org/officeDocument/2006/relationships/notesSlide" Target="../notesSlides/notesSlide2.xml"/><Relationship Id="rId10" Type="http://schemas.openxmlformats.org/officeDocument/2006/relationships/slideLayout" Target="../slideLayouts/slideLayout8.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image" Target="../media/image8.tiff"/><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tags" Target="../tags/tag10.xml"/><Relationship Id="rId17" Type="http://schemas.openxmlformats.org/officeDocument/2006/relationships/notesSlide" Target="../notesSlides/notesSlide3.xml"/><Relationship Id="rId16" Type="http://schemas.openxmlformats.org/officeDocument/2006/relationships/slideLayout" Target="../slideLayouts/slideLayout9.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image" Target="../media/image7.png"/><Relationship Id="rId2" Type="http://schemas.openxmlformats.org/officeDocument/2006/relationships/image" Target="../media/image4.png"/><Relationship Id="rId14" Type="http://schemas.openxmlformats.org/officeDocument/2006/relationships/notesSlide" Target="../notesSlides/notesSlide4.xml"/><Relationship Id="rId13" Type="http://schemas.openxmlformats.org/officeDocument/2006/relationships/slideLayout" Target="../slideLayouts/slideLayout9.xml"/><Relationship Id="rId12" Type="http://schemas.openxmlformats.org/officeDocument/2006/relationships/image" Target="../media/image9.tiff"/><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35" y="1653601"/>
            <a:ext cx="12192000" cy="2829464"/>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rgbClr val="4472C4"/>
              </a:solidFill>
            </a:endParaRPr>
          </a:p>
        </p:txBody>
      </p:sp>
      <p:sp>
        <p:nvSpPr>
          <p:cNvPr id="2" name="文本框 1"/>
          <p:cNvSpPr txBox="1"/>
          <p:nvPr/>
        </p:nvSpPr>
        <p:spPr>
          <a:xfrm>
            <a:off x="1270" y="2007235"/>
            <a:ext cx="12190095" cy="2122805"/>
          </a:xfrm>
          <a:prstGeom prst="rect">
            <a:avLst/>
          </a:prstGeom>
          <a:noFill/>
        </p:spPr>
        <p:txBody>
          <a:bodyPr wrap="square" rtlCol="0">
            <a:spAutoFit/>
          </a:bodyPr>
          <a:lstStyle/>
          <a:p>
            <a:pPr algn="ctr">
              <a:lnSpc>
                <a:spcPct val="150000"/>
              </a:lnSpc>
            </a:pPr>
            <a:r>
              <a:rPr sz="4400" b="1" kern="100" dirty="0">
                <a:solidFill>
                  <a:schemeClr val="bg1"/>
                </a:solidFill>
                <a:effectLst/>
                <a:latin typeface="微软雅黑" panose="020B0503020204020204" pitchFamily="34" charset="-122"/>
                <a:ea typeface="微软雅黑" panose="020B0503020204020204" pitchFamily="34" charset="-122"/>
                <a:cs typeface="仿宋" panose="02010609060101010101" pitchFamily="49" charset="-122"/>
                <a:sym typeface="+mn-ea"/>
              </a:rPr>
              <a:t>熔盐法合成Mxene衍生过渡金属催化剂</a:t>
            </a:r>
            <a:endParaRPr sz="4400" b="1" kern="100" dirty="0">
              <a:solidFill>
                <a:schemeClr val="bg1"/>
              </a:solidFill>
              <a:effectLst/>
              <a:latin typeface="微软雅黑" panose="020B0503020204020204" pitchFamily="34" charset="-122"/>
              <a:ea typeface="微软雅黑" panose="020B0503020204020204" pitchFamily="34" charset="-122"/>
              <a:cs typeface="仿宋" panose="02010609060101010101" pitchFamily="49" charset="-122"/>
              <a:sym typeface="+mn-ea"/>
            </a:endParaRPr>
          </a:p>
          <a:p>
            <a:pPr algn="ctr">
              <a:lnSpc>
                <a:spcPct val="150000"/>
              </a:lnSpc>
            </a:pPr>
            <a:r>
              <a:rPr sz="4400" b="1" kern="100" dirty="0">
                <a:solidFill>
                  <a:schemeClr val="bg1"/>
                </a:solidFill>
                <a:effectLst/>
                <a:latin typeface="微软雅黑" panose="020B0503020204020204" pitchFamily="34" charset="-122"/>
                <a:ea typeface="微软雅黑" panose="020B0503020204020204" pitchFamily="34" charset="-122"/>
                <a:cs typeface="仿宋" panose="02010609060101010101" pitchFamily="49" charset="-122"/>
                <a:sym typeface="+mn-ea"/>
              </a:rPr>
              <a:t>用于催化燃烧的研究</a:t>
            </a:r>
            <a:endParaRPr sz="4400" b="1" kern="100" dirty="0">
              <a:solidFill>
                <a:schemeClr val="bg1"/>
              </a:solidFill>
              <a:effectLst/>
              <a:latin typeface="微软雅黑" panose="020B0503020204020204" pitchFamily="34" charset="-122"/>
              <a:ea typeface="微软雅黑" panose="020B0503020204020204" pitchFamily="34" charset="-122"/>
              <a:cs typeface="仿宋" panose="02010609060101010101" pitchFamily="49" charset="-122"/>
              <a:sym typeface="+mn-ea"/>
            </a:endParaRPr>
          </a:p>
        </p:txBody>
      </p:sp>
      <p:sp>
        <p:nvSpPr>
          <p:cNvPr id="14" name="文本框 1"/>
          <p:cNvSpPr txBox="1">
            <a:spLocks noChangeArrowheads="1"/>
          </p:cNvSpPr>
          <p:nvPr/>
        </p:nvSpPr>
        <p:spPr bwMode="auto">
          <a:xfrm>
            <a:off x="-635" y="4482465"/>
            <a:ext cx="12192000" cy="237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130000"/>
              </a:lnSpc>
            </a:pPr>
            <a:r>
              <a:rPr lang="en-US" altLang="zh-CN" sz="2800" b="1" dirty="0">
                <a:solidFill>
                  <a:srgbClr val="4472C4"/>
                </a:solidFill>
                <a:latin typeface="微软雅黑" panose="020B0503020204020204" pitchFamily="34" charset="-122"/>
                <a:ea typeface="微软雅黑" panose="020B0503020204020204" pitchFamily="34" charset="-122"/>
              </a:rPr>
              <a:t>                                         </a:t>
            </a:r>
            <a:r>
              <a:rPr lang="zh-CN" altLang="en-US" sz="2800" b="1" dirty="0">
                <a:solidFill>
                  <a:srgbClr val="4472C4"/>
                </a:solidFill>
                <a:latin typeface="微软雅黑" panose="020B0503020204020204" pitchFamily="34" charset="-122"/>
                <a:ea typeface="微软雅黑" panose="020B0503020204020204" pitchFamily="34" charset="-122"/>
              </a:rPr>
              <a:t>汇</a:t>
            </a:r>
            <a:r>
              <a:rPr lang="en-US" altLang="zh-CN" sz="2800" b="1" dirty="0">
                <a:solidFill>
                  <a:srgbClr val="4472C4"/>
                </a:solidFill>
                <a:latin typeface="微软雅黑" panose="020B0503020204020204" pitchFamily="34" charset="-122"/>
                <a:ea typeface="微软雅黑" panose="020B0503020204020204" pitchFamily="34" charset="-122"/>
              </a:rPr>
              <a:t>  </a:t>
            </a:r>
            <a:r>
              <a:rPr lang="zh-CN" altLang="en-US" sz="2800" b="1" dirty="0">
                <a:solidFill>
                  <a:srgbClr val="4472C4"/>
                </a:solidFill>
                <a:latin typeface="微软雅黑" panose="020B0503020204020204" pitchFamily="34" charset="-122"/>
                <a:ea typeface="微软雅黑" panose="020B0503020204020204" pitchFamily="34" charset="-122"/>
              </a:rPr>
              <a:t>报</a:t>
            </a:r>
            <a:r>
              <a:rPr lang="en-US" altLang="zh-CN" sz="2800" b="1" dirty="0">
                <a:solidFill>
                  <a:srgbClr val="4472C4"/>
                </a:solidFill>
                <a:latin typeface="微软雅黑" panose="020B0503020204020204" pitchFamily="34" charset="-122"/>
                <a:ea typeface="微软雅黑" panose="020B0503020204020204" pitchFamily="34" charset="-122"/>
              </a:rPr>
              <a:t> </a:t>
            </a:r>
            <a:r>
              <a:rPr lang="zh-CN" altLang="en-US" sz="2800" b="1" dirty="0">
                <a:solidFill>
                  <a:srgbClr val="4472C4"/>
                </a:solidFill>
                <a:latin typeface="微软雅黑" panose="020B0503020204020204" pitchFamily="34" charset="-122"/>
                <a:ea typeface="微软雅黑" panose="020B0503020204020204" pitchFamily="34" charset="-122"/>
              </a:rPr>
              <a:t>人：吴欢</a:t>
            </a:r>
            <a:endParaRPr lang="zh-CN" altLang="en-US" sz="2800" b="1" dirty="0">
              <a:solidFill>
                <a:srgbClr val="4472C4"/>
              </a:solidFill>
              <a:latin typeface="微软雅黑" panose="020B0503020204020204" pitchFamily="34" charset="-122"/>
              <a:ea typeface="微软雅黑" panose="020B0503020204020204" pitchFamily="34" charset="-122"/>
            </a:endParaRPr>
          </a:p>
          <a:p>
            <a:pPr algn="l" eaLnBrk="1" hangingPunct="1">
              <a:lnSpc>
                <a:spcPct val="130000"/>
              </a:lnSpc>
              <a:buClrTx/>
              <a:buSzTx/>
              <a:buFontTx/>
            </a:pPr>
            <a:r>
              <a:rPr lang="en-US" altLang="zh-CN" sz="2800" b="1" dirty="0">
                <a:solidFill>
                  <a:srgbClr val="4472C4"/>
                </a:solidFill>
                <a:latin typeface="微软雅黑" panose="020B0503020204020204" pitchFamily="34" charset="-122"/>
                <a:ea typeface="微软雅黑" panose="020B0503020204020204" pitchFamily="34" charset="-122"/>
                <a:sym typeface="+mn-ea"/>
              </a:rPr>
              <a:t>                                         </a:t>
            </a:r>
            <a:r>
              <a:rPr lang="zh-CN" altLang="en-US" sz="2800" b="1" dirty="0">
                <a:solidFill>
                  <a:srgbClr val="4472C4"/>
                </a:solidFill>
                <a:latin typeface="微软雅黑" panose="020B0503020204020204" pitchFamily="34" charset="-122"/>
                <a:ea typeface="微软雅黑" panose="020B0503020204020204" pitchFamily="34" charset="-122"/>
                <a:sym typeface="+mn-ea"/>
              </a:rPr>
              <a:t>指导老师：杨志懋 教授</a:t>
            </a:r>
            <a:endParaRPr lang="zh-CN" altLang="en-US" sz="2800" b="1" dirty="0">
              <a:solidFill>
                <a:srgbClr val="4472C4"/>
              </a:solidFill>
              <a:latin typeface="微软雅黑" panose="020B0503020204020204" pitchFamily="34" charset="-122"/>
              <a:ea typeface="微软雅黑" panose="020B0503020204020204" pitchFamily="34" charset="-122"/>
            </a:endParaRPr>
          </a:p>
          <a:p>
            <a:pPr algn="l" eaLnBrk="1" hangingPunct="1">
              <a:lnSpc>
                <a:spcPct val="130000"/>
              </a:lnSpc>
              <a:buClrTx/>
              <a:buSzTx/>
              <a:buFontTx/>
            </a:pPr>
            <a:r>
              <a:rPr lang="en-US" altLang="zh-CN" sz="2800" b="1" dirty="0">
                <a:solidFill>
                  <a:srgbClr val="4472C4"/>
                </a:solidFill>
                <a:latin typeface="微软雅黑" panose="020B0503020204020204" pitchFamily="34" charset="-122"/>
                <a:ea typeface="微软雅黑" panose="020B0503020204020204" pitchFamily="34" charset="-122"/>
                <a:sym typeface="+mn-ea"/>
              </a:rPr>
              <a:t>                                         </a:t>
            </a:r>
            <a:r>
              <a:rPr lang="zh-CN" altLang="en-US" sz="2800" b="1" dirty="0">
                <a:solidFill>
                  <a:srgbClr val="4472C4"/>
                </a:solidFill>
                <a:latin typeface="微软雅黑" panose="020B0503020204020204" pitchFamily="34" charset="-122"/>
                <a:ea typeface="微软雅黑" panose="020B0503020204020204" pitchFamily="34" charset="-122"/>
                <a:sym typeface="+mn-ea"/>
              </a:rPr>
              <a:t>班      </a:t>
            </a:r>
            <a:r>
              <a:rPr lang="en-US" altLang="zh-CN" sz="2800" b="1" dirty="0">
                <a:solidFill>
                  <a:srgbClr val="4472C4"/>
                </a:solidFill>
                <a:latin typeface="Times New Roman" panose="02020603050405020304" pitchFamily="18" charset="0"/>
                <a:cs typeface="Times New Roman" panose="02020603050405020304" pitchFamily="18" charset="0"/>
                <a:sym typeface="+mn-ea"/>
              </a:rPr>
              <a:t> </a:t>
            </a:r>
            <a:r>
              <a:rPr lang="zh-CN" altLang="en-US" sz="2800" b="1" dirty="0">
                <a:solidFill>
                  <a:srgbClr val="4472C4"/>
                </a:solidFill>
                <a:latin typeface="微软雅黑" panose="020B0503020204020204" pitchFamily="34" charset="-122"/>
                <a:ea typeface="微软雅黑" panose="020B0503020204020204" pitchFamily="34" charset="-122"/>
                <a:sym typeface="+mn-ea"/>
              </a:rPr>
              <a:t>级：S</a:t>
            </a:r>
            <a:r>
              <a:rPr lang="en-US" altLang="zh-CN" sz="2800" b="1" dirty="0">
                <a:solidFill>
                  <a:srgbClr val="4472C4"/>
                </a:solidFill>
                <a:latin typeface="微软雅黑" panose="020B0503020204020204" pitchFamily="34" charset="-122"/>
                <a:ea typeface="微软雅黑" panose="020B0503020204020204" pitchFamily="34" charset="-122"/>
                <a:sym typeface="+mn-ea"/>
              </a:rPr>
              <a:t>2217</a:t>
            </a:r>
            <a:endParaRPr lang="zh-CN" altLang="en-US" sz="2800" b="1" dirty="0">
              <a:solidFill>
                <a:srgbClr val="4472C4"/>
              </a:solidFill>
              <a:latin typeface="微软雅黑" panose="020B0503020204020204" pitchFamily="34" charset="-122"/>
              <a:ea typeface="微软雅黑" panose="020B0503020204020204" pitchFamily="34" charset="-122"/>
            </a:endParaRPr>
          </a:p>
          <a:p>
            <a:pPr algn="l" eaLnBrk="1" hangingPunct="1">
              <a:lnSpc>
                <a:spcPct val="130000"/>
              </a:lnSpc>
              <a:buClrTx/>
              <a:buSzTx/>
              <a:buFontTx/>
            </a:pPr>
            <a:r>
              <a:rPr lang="en-US" altLang="zh-CN" sz="2800" b="1" dirty="0">
                <a:solidFill>
                  <a:srgbClr val="4472C4"/>
                </a:solidFill>
                <a:latin typeface="微软雅黑" panose="020B0503020204020204" pitchFamily="34" charset="-122"/>
                <a:ea typeface="微软雅黑" panose="020B0503020204020204" pitchFamily="34" charset="-122"/>
                <a:sym typeface="+mn-ea"/>
              </a:rPr>
              <a:t>                                         </a:t>
            </a:r>
            <a:r>
              <a:rPr lang="zh-CN" altLang="en-US" sz="2800" b="1" dirty="0">
                <a:solidFill>
                  <a:srgbClr val="4472C4"/>
                </a:solidFill>
                <a:latin typeface="微软雅黑" panose="020B0503020204020204" pitchFamily="34" charset="-122"/>
                <a:ea typeface="微软雅黑" panose="020B0503020204020204" pitchFamily="34" charset="-122"/>
                <a:sym typeface="+mn-ea"/>
              </a:rPr>
              <a:t>时      </a:t>
            </a:r>
            <a:r>
              <a:rPr lang="en-US" altLang="zh-CN" sz="2800" b="1" dirty="0">
                <a:solidFill>
                  <a:srgbClr val="4472C4"/>
                </a:solidFill>
                <a:latin typeface="微软雅黑" panose="020B0503020204020204" pitchFamily="34" charset="-122"/>
                <a:ea typeface="微软雅黑" panose="020B0503020204020204" pitchFamily="34" charset="-122"/>
                <a:sym typeface="+mn-ea"/>
              </a:rPr>
              <a:t> </a:t>
            </a:r>
            <a:r>
              <a:rPr lang="zh-CN" altLang="en-US" sz="2800" b="1" dirty="0">
                <a:solidFill>
                  <a:srgbClr val="4472C4"/>
                </a:solidFill>
                <a:latin typeface="微软雅黑" panose="020B0503020204020204" pitchFamily="34" charset="-122"/>
                <a:ea typeface="微软雅黑" panose="020B0503020204020204" pitchFamily="34" charset="-122"/>
                <a:sym typeface="+mn-ea"/>
              </a:rPr>
              <a:t>间：202</a:t>
            </a:r>
            <a:r>
              <a:rPr lang="en-US" altLang="zh-CN" sz="2800" b="1" dirty="0">
                <a:solidFill>
                  <a:srgbClr val="4472C4"/>
                </a:solidFill>
                <a:latin typeface="微软雅黑" panose="020B0503020204020204" pitchFamily="34" charset="-122"/>
                <a:ea typeface="微软雅黑" panose="020B0503020204020204" pitchFamily="34" charset="-122"/>
                <a:sym typeface="+mn-ea"/>
              </a:rPr>
              <a:t>4</a:t>
            </a:r>
            <a:r>
              <a:rPr lang="zh-CN" altLang="en-US" sz="2800" b="1" dirty="0">
                <a:solidFill>
                  <a:srgbClr val="4472C4"/>
                </a:solidFill>
                <a:latin typeface="微软雅黑" panose="020B0503020204020204" pitchFamily="34" charset="-122"/>
                <a:ea typeface="微软雅黑" panose="020B0503020204020204" pitchFamily="34" charset="-122"/>
                <a:sym typeface="+mn-ea"/>
              </a:rPr>
              <a:t>年</a:t>
            </a:r>
            <a:r>
              <a:rPr lang="en-US" altLang="zh-CN" sz="2800" b="1" dirty="0">
                <a:solidFill>
                  <a:srgbClr val="4472C4"/>
                </a:solidFill>
                <a:latin typeface="微软雅黑" panose="020B0503020204020204" pitchFamily="34" charset="-122"/>
                <a:ea typeface="微软雅黑" panose="020B0503020204020204" pitchFamily="34" charset="-122"/>
                <a:sym typeface="+mn-ea"/>
              </a:rPr>
              <a:t>10</a:t>
            </a:r>
            <a:r>
              <a:rPr lang="zh-CN" altLang="en-US" sz="2800" b="1" dirty="0">
                <a:solidFill>
                  <a:srgbClr val="4472C4"/>
                </a:solidFill>
                <a:latin typeface="微软雅黑" panose="020B0503020204020204" pitchFamily="34" charset="-122"/>
                <a:ea typeface="微软雅黑" panose="020B0503020204020204" pitchFamily="34" charset="-122"/>
                <a:sym typeface="+mn-ea"/>
              </a:rPr>
              <a:t>月</a:t>
            </a:r>
            <a:r>
              <a:rPr lang="en-US" altLang="zh-CN" sz="2800" b="1" dirty="0">
                <a:solidFill>
                  <a:srgbClr val="4472C4"/>
                </a:solidFill>
                <a:latin typeface="微软雅黑" panose="020B0503020204020204" pitchFamily="34" charset="-122"/>
                <a:ea typeface="微软雅黑" panose="020B0503020204020204" pitchFamily="34" charset="-122"/>
                <a:sym typeface="+mn-ea"/>
              </a:rPr>
              <a:t>19</a:t>
            </a:r>
            <a:r>
              <a:rPr lang="zh-CN" altLang="en-US" sz="2800" b="1" dirty="0">
                <a:solidFill>
                  <a:srgbClr val="4472C4"/>
                </a:solidFill>
                <a:latin typeface="微软雅黑" panose="020B0503020204020204" pitchFamily="34" charset="-122"/>
                <a:ea typeface="微软雅黑" panose="020B0503020204020204" pitchFamily="34" charset="-122"/>
                <a:sym typeface="+mn-ea"/>
              </a:rPr>
              <a:t>日</a:t>
            </a:r>
            <a:endParaRPr lang="zh-CN" altLang="en-US" sz="2800" b="1" dirty="0">
              <a:solidFill>
                <a:srgbClr val="4472C4"/>
              </a:solidFill>
              <a:latin typeface="微软雅黑" panose="020B0503020204020204" pitchFamily="34" charset="-122"/>
              <a:ea typeface="微软雅黑" panose="020B0503020204020204" pitchFamily="34" charset="-122"/>
            </a:endParaRPr>
          </a:p>
        </p:txBody>
      </p:sp>
      <p:pic>
        <p:nvPicPr>
          <p:cNvPr id="6" name="图片 5" descr="校标蓝色"/>
          <p:cNvPicPr>
            <a:picLocks noChangeAspect="1"/>
          </p:cNvPicPr>
          <p:nvPr>
            <p:custDataLst>
              <p:tags r:id="rId1"/>
            </p:custDataLst>
          </p:nvPr>
        </p:nvPicPr>
        <p:blipFill>
          <a:blip r:embed="rId2"/>
          <a:stretch>
            <a:fillRect/>
          </a:stretch>
        </p:blipFill>
        <p:spPr>
          <a:xfrm>
            <a:off x="0" y="0"/>
            <a:ext cx="4032611" cy="108000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0"/>
            <a:ext cx="4793942" cy="6858000"/>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0" y="1"/>
            <a:ext cx="4793942" cy="6857999"/>
          </a:xfrm>
          <a:prstGeom prst="rect">
            <a:avLst/>
          </a:prstGeom>
          <a:blipFill dpi="0" rotWithShape="1">
            <a:blip r:embed="rId2">
              <a:alphaModFix amt="86000"/>
            </a:blip>
            <a:srcRect/>
            <a:stretch>
              <a:fillRect l="-52412" r="-1425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p:cNvGrpSpPr/>
          <p:nvPr/>
        </p:nvGrpSpPr>
        <p:grpSpPr>
          <a:xfrm>
            <a:off x="488304" y="1569098"/>
            <a:ext cx="3455808" cy="3408168"/>
            <a:chOff x="-9050" y="2167639"/>
            <a:chExt cx="3455808" cy="3408168"/>
          </a:xfrm>
          <a:solidFill>
            <a:schemeClr val="bg1"/>
          </a:solidFill>
        </p:grpSpPr>
        <p:grpSp>
          <p:nvGrpSpPr>
            <p:cNvPr id="4" name="组合 3"/>
            <p:cNvGrpSpPr/>
            <p:nvPr/>
          </p:nvGrpSpPr>
          <p:grpSpPr>
            <a:xfrm>
              <a:off x="734486" y="2167639"/>
              <a:ext cx="2487741" cy="2288124"/>
              <a:chOff x="8374817" y="3976831"/>
              <a:chExt cx="719115" cy="661413"/>
            </a:xfrm>
            <a:grpFill/>
          </p:grpSpPr>
          <p:sp>
            <p:nvSpPr>
              <p:cNvPr id="6" name="Freeform 44"/>
              <p:cNvSpPr/>
              <p:nvPr/>
            </p:nvSpPr>
            <p:spPr bwMode="auto">
              <a:xfrm>
                <a:off x="9018919" y="4072040"/>
                <a:ext cx="75013" cy="68522"/>
              </a:xfrm>
              <a:custGeom>
                <a:avLst/>
                <a:gdLst>
                  <a:gd name="T0" fmla="*/ 28 w 44"/>
                  <a:gd name="T1" fmla="*/ 11 h 40"/>
                  <a:gd name="T2" fmla="*/ 0 w 44"/>
                  <a:gd name="T3" fmla="*/ 18 h 40"/>
                  <a:gd name="T4" fmla="*/ 31 w 44"/>
                  <a:gd name="T5" fmla="*/ 40 h 40"/>
                  <a:gd name="T6" fmla="*/ 28 w 44"/>
                  <a:gd name="T7" fmla="*/ 11 h 40"/>
                </a:gdLst>
                <a:ahLst/>
                <a:cxnLst>
                  <a:cxn ang="0">
                    <a:pos x="T0" y="T1"/>
                  </a:cxn>
                  <a:cxn ang="0">
                    <a:pos x="T2" y="T3"/>
                  </a:cxn>
                  <a:cxn ang="0">
                    <a:pos x="T4" y="T5"/>
                  </a:cxn>
                  <a:cxn ang="0">
                    <a:pos x="T6" y="T7"/>
                  </a:cxn>
                </a:cxnLst>
                <a:rect l="0" t="0" r="r" b="b"/>
                <a:pathLst>
                  <a:path w="44" h="40">
                    <a:moveTo>
                      <a:pt x="28" y="11"/>
                    </a:moveTo>
                    <a:cubicBezTo>
                      <a:pt x="13" y="0"/>
                      <a:pt x="0" y="18"/>
                      <a:pt x="0" y="18"/>
                    </a:cubicBezTo>
                    <a:cubicBezTo>
                      <a:pt x="31" y="40"/>
                      <a:pt x="31" y="40"/>
                      <a:pt x="31" y="40"/>
                    </a:cubicBezTo>
                    <a:cubicBezTo>
                      <a:pt x="31" y="40"/>
                      <a:pt x="44" y="22"/>
                      <a:pt x="2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7" name="Freeform 45"/>
              <p:cNvSpPr/>
              <p:nvPr/>
            </p:nvSpPr>
            <p:spPr bwMode="auto">
              <a:xfrm>
                <a:off x="8831387" y="4116759"/>
                <a:ext cx="230088" cy="284184"/>
              </a:xfrm>
              <a:custGeom>
                <a:avLst/>
                <a:gdLst>
                  <a:gd name="T0" fmla="*/ 187 w 319"/>
                  <a:gd name="T1" fmla="*/ 85 h 394"/>
                  <a:gd name="T2" fmla="*/ 156 w 319"/>
                  <a:gd name="T3" fmla="*/ 125 h 394"/>
                  <a:gd name="T4" fmla="*/ 104 w 319"/>
                  <a:gd name="T5" fmla="*/ 198 h 394"/>
                  <a:gd name="T6" fmla="*/ 0 w 319"/>
                  <a:gd name="T7" fmla="*/ 342 h 394"/>
                  <a:gd name="T8" fmla="*/ 74 w 319"/>
                  <a:gd name="T9" fmla="*/ 394 h 394"/>
                  <a:gd name="T10" fmla="*/ 104 w 319"/>
                  <a:gd name="T11" fmla="*/ 352 h 394"/>
                  <a:gd name="T12" fmla="*/ 130 w 319"/>
                  <a:gd name="T13" fmla="*/ 314 h 394"/>
                  <a:gd name="T14" fmla="*/ 156 w 319"/>
                  <a:gd name="T15" fmla="*/ 276 h 394"/>
                  <a:gd name="T16" fmla="*/ 319 w 319"/>
                  <a:gd name="T17" fmla="*/ 52 h 394"/>
                  <a:gd name="T18" fmla="*/ 248 w 319"/>
                  <a:gd name="T19" fmla="*/ 0 h 394"/>
                  <a:gd name="T20" fmla="*/ 187 w 319"/>
                  <a:gd name="T21" fmla="*/ 85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94">
                    <a:moveTo>
                      <a:pt x="187" y="85"/>
                    </a:moveTo>
                    <a:lnTo>
                      <a:pt x="156" y="125"/>
                    </a:lnTo>
                    <a:lnTo>
                      <a:pt x="104" y="198"/>
                    </a:lnTo>
                    <a:lnTo>
                      <a:pt x="0" y="342"/>
                    </a:lnTo>
                    <a:lnTo>
                      <a:pt x="74" y="394"/>
                    </a:lnTo>
                    <a:lnTo>
                      <a:pt x="104" y="352"/>
                    </a:lnTo>
                    <a:lnTo>
                      <a:pt x="130" y="314"/>
                    </a:lnTo>
                    <a:lnTo>
                      <a:pt x="156" y="276"/>
                    </a:lnTo>
                    <a:lnTo>
                      <a:pt x="319" y="52"/>
                    </a:lnTo>
                    <a:lnTo>
                      <a:pt x="248" y="0"/>
                    </a:lnTo>
                    <a:lnTo>
                      <a:pt x="187"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8" name="Freeform 46"/>
              <p:cNvSpPr/>
              <p:nvPr/>
            </p:nvSpPr>
            <p:spPr bwMode="auto">
              <a:xfrm>
                <a:off x="8374817" y="3976831"/>
                <a:ext cx="569090" cy="661413"/>
              </a:xfrm>
              <a:custGeom>
                <a:avLst/>
                <a:gdLst>
                  <a:gd name="T0" fmla="*/ 312 w 334"/>
                  <a:gd name="T1" fmla="*/ 348 h 388"/>
                  <a:gd name="T2" fmla="*/ 293 w 334"/>
                  <a:gd name="T3" fmla="*/ 366 h 388"/>
                  <a:gd name="T4" fmla="*/ 40 w 334"/>
                  <a:gd name="T5" fmla="*/ 366 h 388"/>
                  <a:gd name="T6" fmla="*/ 22 w 334"/>
                  <a:gd name="T7" fmla="*/ 348 h 388"/>
                  <a:gd name="T8" fmla="*/ 22 w 334"/>
                  <a:gd name="T9" fmla="*/ 41 h 388"/>
                  <a:gd name="T10" fmla="*/ 40 w 334"/>
                  <a:gd name="T11" fmla="*/ 23 h 388"/>
                  <a:gd name="T12" fmla="*/ 293 w 334"/>
                  <a:gd name="T13" fmla="*/ 23 h 388"/>
                  <a:gd name="T14" fmla="*/ 312 w 334"/>
                  <a:gd name="T15" fmla="*/ 41 h 388"/>
                  <a:gd name="T16" fmla="*/ 312 w 334"/>
                  <a:gd name="T17" fmla="*/ 140 h 388"/>
                  <a:gd name="T18" fmla="*/ 334 w 334"/>
                  <a:gd name="T19" fmla="*/ 109 h 388"/>
                  <a:gd name="T20" fmla="*/ 334 w 334"/>
                  <a:gd name="T21" fmla="*/ 21 h 388"/>
                  <a:gd name="T22" fmla="*/ 313 w 334"/>
                  <a:gd name="T23" fmla="*/ 0 h 388"/>
                  <a:gd name="T24" fmla="*/ 21 w 334"/>
                  <a:gd name="T25" fmla="*/ 0 h 388"/>
                  <a:gd name="T26" fmla="*/ 0 w 334"/>
                  <a:gd name="T27" fmla="*/ 21 h 388"/>
                  <a:gd name="T28" fmla="*/ 0 w 334"/>
                  <a:gd name="T29" fmla="*/ 368 h 388"/>
                  <a:gd name="T30" fmla="*/ 21 w 334"/>
                  <a:gd name="T31" fmla="*/ 388 h 388"/>
                  <a:gd name="T32" fmla="*/ 313 w 334"/>
                  <a:gd name="T33" fmla="*/ 388 h 388"/>
                  <a:gd name="T34" fmla="*/ 334 w 334"/>
                  <a:gd name="T35" fmla="*/ 368 h 388"/>
                  <a:gd name="T36" fmla="*/ 334 w 334"/>
                  <a:gd name="T37" fmla="*/ 223 h 388"/>
                  <a:gd name="T38" fmla="*/ 312 w 334"/>
                  <a:gd name="T39" fmla="*/ 254 h 388"/>
                  <a:gd name="T40" fmla="*/ 312 w 334"/>
                  <a:gd name="T41" fmla="*/ 34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4" h="388">
                    <a:moveTo>
                      <a:pt x="312" y="348"/>
                    </a:moveTo>
                    <a:cubicBezTo>
                      <a:pt x="312" y="358"/>
                      <a:pt x="303" y="366"/>
                      <a:pt x="293" y="366"/>
                    </a:cubicBezTo>
                    <a:cubicBezTo>
                      <a:pt x="40" y="366"/>
                      <a:pt x="40" y="366"/>
                      <a:pt x="40" y="366"/>
                    </a:cubicBezTo>
                    <a:cubicBezTo>
                      <a:pt x="30" y="366"/>
                      <a:pt x="22" y="358"/>
                      <a:pt x="22" y="348"/>
                    </a:cubicBezTo>
                    <a:cubicBezTo>
                      <a:pt x="22" y="41"/>
                      <a:pt x="22" y="41"/>
                      <a:pt x="22" y="41"/>
                    </a:cubicBezTo>
                    <a:cubicBezTo>
                      <a:pt x="22" y="31"/>
                      <a:pt x="30" y="23"/>
                      <a:pt x="40" y="23"/>
                    </a:cubicBezTo>
                    <a:cubicBezTo>
                      <a:pt x="293" y="23"/>
                      <a:pt x="293" y="23"/>
                      <a:pt x="293" y="23"/>
                    </a:cubicBezTo>
                    <a:cubicBezTo>
                      <a:pt x="303" y="23"/>
                      <a:pt x="312" y="31"/>
                      <a:pt x="312" y="41"/>
                    </a:cubicBezTo>
                    <a:cubicBezTo>
                      <a:pt x="312" y="140"/>
                      <a:pt x="312" y="140"/>
                      <a:pt x="312" y="140"/>
                    </a:cubicBezTo>
                    <a:cubicBezTo>
                      <a:pt x="334" y="109"/>
                      <a:pt x="334" y="109"/>
                      <a:pt x="334" y="109"/>
                    </a:cubicBezTo>
                    <a:cubicBezTo>
                      <a:pt x="334" y="21"/>
                      <a:pt x="334" y="21"/>
                      <a:pt x="334" y="21"/>
                    </a:cubicBezTo>
                    <a:cubicBezTo>
                      <a:pt x="334" y="10"/>
                      <a:pt x="325" y="0"/>
                      <a:pt x="313" y="0"/>
                    </a:cubicBezTo>
                    <a:cubicBezTo>
                      <a:pt x="21" y="0"/>
                      <a:pt x="21" y="0"/>
                      <a:pt x="21" y="0"/>
                    </a:cubicBezTo>
                    <a:cubicBezTo>
                      <a:pt x="9" y="0"/>
                      <a:pt x="0" y="10"/>
                      <a:pt x="0" y="21"/>
                    </a:cubicBezTo>
                    <a:cubicBezTo>
                      <a:pt x="0" y="368"/>
                      <a:pt x="0" y="368"/>
                      <a:pt x="0" y="368"/>
                    </a:cubicBezTo>
                    <a:cubicBezTo>
                      <a:pt x="0" y="379"/>
                      <a:pt x="9" y="388"/>
                      <a:pt x="21" y="388"/>
                    </a:cubicBezTo>
                    <a:cubicBezTo>
                      <a:pt x="313" y="388"/>
                      <a:pt x="313" y="388"/>
                      <a:pt x="313" y="388"/>
                    </a:cubicBezTo>
                    <a:cubicBezTo>
                      <a:pt x="325" y="388"/>
                      <a:pt x="334" y="379"/>
                      <a:pt x="334" y="368"/>
                    </a:cubicBezTo>
                    <a:cubicBezTo>
                      <a:pt x="334" y="223"/>
                      <a:pt x="334" y="223"/>
                      <a:pt x="334" y="223"/>
                    </a:cubicBezTo>
                    <a:cubicBezTo>
                      <a:pt x="312" y="254"/>
                      <a:pt x="312" y="254"/>
                      <a:pt x="312" y="254"/>
                    </a:cubicBezTo>
                    <a:lnTo>
                      <a:pt x="312" y="3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9" name="Freeform 47"/>
              <p:cNvSpPr/>
              <p:nvPr/>
            </p:nvSpPr>
            <p:spPr bwMode="auto">
              <a:xfrm>
                <a:off x="8806142" y="4377142"/>
                <a:ext cx="67800" cy="77177"/>
              </a:xfrm>
              <a:custGeom>
                <a:avLst/>
                <a:gdLst>
                  <a:gd name="T0" fmla="*/ 21 w 94"/>
                  <a:gd name="T1" fmla="*/ 0 h 107"/>
                  <a:gd name="T2" fmla="*/ 0 w 94"/>
                  <a:gd name="T3" fmla="*/ 107 h 107"/>
                  <a:gd name="T4" fmla="*/ 94 w 94"/>
                  <a:gd name="T5" fmla="*/ 52 h 107"/>
                  <a:gd name="T6" fmla="*/ 21 w 94"/>
                  <a:gd name="T7" fmla="*/ 0 h 107"/>
                </a:gdLst>
                <a:ahLst/>
                <a:cxnLst>
                  <a:cxn ang="0">
                    <a:pos x="T0" y="T1"/>
                  </a:cxn>
                  <a:cxn ang="0">
                    <a:pos x="T2" y="T3"/>
                  </a:cxn>
                  <a:cxn ang="0">
                    <a:pos x="T4" y="T5"/>
                  </a:cxn>
                  <a:cxn ang="0">
                    <a:pos x="T6" y="T7"/>
                  </a:cxn>
                </a:cxnLst>
                <a:rect l="0" t="0" r="r" b="b"/>
                <a:pathLst>
                  <a:path w="94" h="107">
                    <a:moveTo>
                      <a:pt x="21" y="0"/>
                    </a:moveTo>
                    <a:lnTo>
                      <a:pt x="0" y="107"/>
                    </a:lnTo>
                    <a:lnTo>
                      <a:pt x="94" y="5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10" name="Rectangle 48"/>
              <p:cNvSpPr>
                <a:spLocks noChangeArrowheads="1"/>
              </p:cNvSpPr>
              <p:nvPr/>
            </p:nvSpPr>
            <p:spPr bwMode="auto">
              <a:xfrm>
                <a:off x="8459928" y="4504808"/>
                <a:ext cx="296224" cy="346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11" name="Rectangle 49"/>
              <p:cNvSpPr>
                <a:spLocks noChangeArrowheads="1"/>
              </p:cNvSpPr>
              <p:nvPr/>
            </p:nvSpPr>
            <p:spPr bwMode="auto">
              <a:xfrm>
                <a:off x="8459928" y="4428352"/>
                <a:ext cx="296224" cy="33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12" name="Rectangle 50"/>
              <p:cNvSpPr>
                <a:spLocks noChangeArrowheads="1"/>
              </p:cNvSpPr>
              <p:nvPr/>
            </p:nvSpPr>
            <p:spPr bwMode="auto">
              <a:xfrm>
                <a:off x="8459928" y="4354782"/>
                <a:ext cx="296224" cy="324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13" name="Rectangle 51"/>
              <p:cNvSpPr>
                <a:spLocks noChangeArrowheads="1"/>
              </p:cNvSpPr>
              <p:nvPr/>
            </p:nvSpPr>
            <p:spPr bwMode="auto">
              <a:xfrm>
                <a:off x="8459928" y="4278326"/>
                <a:ext cx="296224" cy="324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14" name="Rectangle 52"/>
              <p:cNvSpPr>
                <a:spLocks noChangeArrowheads="1"/>
              </p:cNvSpPr>
              <p:nvPr/>
            </p:nvSpPr>
            <p:spPr bwMode="auto">
              <a:xfrm>
                <a:off x="8459928" y="4201870"/>
                <a:ext cx="296224" cy="33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sp>
            <p:nvSpPr>
              <p:cNvPr id="15" name="Rectangle 53"/>
              <p:cNvSpPr>
                <a:spLocks noChangeArrowheads="1"/>
              </p:cNvSpPr>
              <p:nvPr/>
            </p:nvSpPr>
            <p:spPr bwMode="auto">
              <a:xfrm>
                <a:off x="8459928" y="4124694"/>
                <a:ext cx="296224" cy="346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63" tIns="45731" rIns="91463" bIns="457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59号-创粗黑" panose="00000500000000000000" pitchFamily="2" charset="-122"/>
                  <a:ea typeface="字魂59号-创粗黑" panose="00000500000000000000" pitchFamily="2" charset="-122"/>
                  <a:cs typeface="+mn-cs"/>
                  <a:sym typeface="字魂59号-创粗黑" panose="00000500000000000000" pitchFamily="2" charset="-122"/>
                </a:endParaRPr>
              </a:p>
            </p:txBody>
          </p:sp>
        </p:grpSp>
        <p:sp>
          <p:nvSpPr>
            <p:cNvPr id="5" name="TextBox 59"/>
            <p:cNvSpPr>
              <a:spLocks noChangeArrowheads="1"/>
            </p:cNvSpPr>
            <p:nvPr/>
          </p:nvSpPr>
          <p:spPr bwMode="auto">
            <a:xfrm flipH="1">
              <a:off x="-9050" y="4652477"/>
              <a:ext cx="3455808" cy="923330"/>
            </a:xfrm>
            <a:prstGeom prst="rect">
              <a:avLst/>
            </a:prstGeom>
            <a:noFill/>
            <a:ln>
              <a:noFill/>
            </a:ln>
            <a:extLs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5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字魂59号-创粗黑" panose="00000500000000000000" pitchFamily="2" charset="-122"/>
                  <a:ea typeface="字魂59号-创粗黑" panose="00000500000000000000" pitchFamily="2" charset="-122"/>
                  <a:cs typeface="David" panose="020E0502060401010101" pitchFamily="34" charset="-79"/>
                  <a:sym typeface="字魂59号-创粗黑" panose="00000500000000000000" pitchFamily="2" charset="-122"/>
                </a:rPr>
                <a:t>CONTENTS </a:t>
              </a:r>
              <a:endParaRPr kumimoji="0" lang="en-US" altLang="zh-CN" sz="5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字魂59号-创粗黑" panose="00000500000000000000" pitchFamily="2" charset="-122"/>
                <a:ea typeface="字魂59号-创粗黑" panose="00000500000000000000" pitchFamily="2" charset="-122"/>
                <a:cs typeface="David" panose="020E0502060401010101" pitchFamily="34" charset="-79"/>
                <a:sym typeface="字魂59号-创粗黑" panose="00000500000000000000" pitchFamily="2" charset="-122"/>
              </a:endParaRPr>
            </a:p>
          </p:txBody>
        </p:sp>
      </p:grpSp>
      <p:grpSp>
        <p:nvGrpSpPr>
          <p:cNvPr id="19" name="组合 18"/>
          <p:cNvGrpSpPr>
            <a:grpSpLocks noChangeAspect="1"/>
          </p:cNvGrpSpPr>
          <p:nvPr>
            <p:custDataLst>
              <p:tags r:id="rId3"/>
            </p:custDataLst>
          </p:nvPr>
        </p:nvGrpSpPr>
        <p:grpSpPr>
          <a:xfrm>
            <a:off x="5873115" y="1875790"/>
            <a:ext cx="5364000" cy="3305705"/>
            <a:chOff x="9658" y="2328"/>
            <a:chExt cx="7938" cy="4892"/>
          </a:xfrm>
        </p:grpSpPr>
        <p:sp>
          <p:nvSpPr>
            <p:cNvPr id="2" name="Oval 4"/>
            <p:cNvSpPr/>
            <p:nvPr>
              <p:custDataLst>
                <p:tags r:id="rId4"/>
              </p:custDataLst>
            </p:nvPr>
          </p:nvSpPr>
          <p:spPr>
            <a:xfrm>
              <a:off x="9658" y="2328"/>
              <a:ext cx="1180" cy="1180"/>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1</a:t>
              </a:r>
              <a:endParaRPr kumimoji="0" lang="id-ID" sz="32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16" name="Oval 4"/>
            <p:cNvSpPr/>
            <p:nvPr>
              <p:custDataLst>
                <p:tags r:id="rId5"/>
              </p:custDataLst>
            </p:nvPr>
          </p:nvSpPr>
          <p:spPr>
            <a:xfrm>
              <a:off x="9658" y="4184"/>
              <a:ext cx="1180" cy="1180"/>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2</a:t>
              </a:r>
              <a:endParaRPr kumimoji="0" lang="id-ID" sz="32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17" name="Oval 4"/>
            <p:cNvSpPr/>
            <p:nvPr>
              <p:custDataLst>
                <p:tags r:id="rId6"/>
              </p:custDataLst>
            </p:nvPr>
          </p:nvSpPr>
          <p:spPr>
            <a:xfrm>
              <a:off x="9658" y="6040"/>
              <a:ext cx="1180" cy="1180"/>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3</a:t>
              </a:r>
              <a:endParaRPr kumimoji="0" lang="id-ID" sz="32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27" name="Text Box 17"/>
            <p:cNvSpPr txBox="1">
              <a:spLocks noChangeArrowheads="1"/>
            </p:cNvSpPr>
            <p:nvPr>
              <p:custDataLst>
                <p:tags r:id="rId7"/>
              </p:custDataLst>
            </p:nvPr>
          </p:nvSpPr>
          <p:spPr bwMode="auto">
            <a:xfrm>
              <a:off x="11096" y="2457"/>
              <a:ext cx="6500" cy="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选题背景及研究内容</a:t>
              </a:r>
              <a:endParaRPr kumimoji="0" lang="zh-CN" altLang="en-US"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Text Box 17"/>
            <p:cNvSpPr txBox="1">
              <a:spLocks noChangeArrowheads="1"/>
            </p:cNvSpPr>
            <p:nvPr>
              <p:custDataLst>
                <p:tags r:id="rId8"/>
              </p:custDataLst>
            </p:nvPr>
          </p:nvSpPr>
          <p:spPr bwMode="auto">
            <a:xfrm>
              <a:off x="11096" y="4313"/>
              <a:ext cx="6499" cy="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研究工作进展</a:t>
              </a:r>
              <a:endParaRPr kumimoji="0" lang="zh-CN" altLang="en-US"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Text Box 17"/>
            <p:cNvSpPr txBox="1">
              <a:spLocks noChangeArrowheads="1"/>
            </p:cNvSpPr>
            <p:nvPr>
              <p:custDataLst>
                <p:tags r:id="rId9"/>
              </p:custDataLst>
            </p:nvPr>
          </p:nvSpPr>
          <p:spPr bwMode="auto">
            <a:xfrm>
              <a:off x="11096" y="6169"/>
              <a:ext cx="6500" cy="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下一步工作计划</a:t>
              </a:r>
              <a:endParaRPr kumimoji="0" lang="zh-CN" altLang="en-US"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a:xfrm>
            <a:off x="6189980" y="1806575"/>
            <a:ext cx="5666105" cy="2707640"/>
          </a:xfrm>
          <a:prstGeom prst="rect">
            <a:avLst/>
          </a:prstGeom>
          <a:solidFill>
            <a:schemeClr val="bg1">
              <a:lumMod val="85000"/>
            </a:schemeClr>
          </a:solidFill>
          <a:ln w="28575" cmpd="sng">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335915" y="1880479"/>
            <a:ext cx="3345815" cy="398780"/>
          </a:xfrm>
          <a:prstGeom prst="rect">
            <a:avLst/>
          </a:prstGeom>
          <a:no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来源广泛：自然源、人为源</a:t>
            </a:r>
            <a:endParaRPr lang="zh-CN" altLang="en-US" sz="20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6343650" y="1880479"/>
            <a:ext cx="1489710" cy="398780"/>
          </a:xfrm>
          <a:prstGeom prst="rect">
            <a:avLst/>
          </a:prstGeom>
          <a:no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危害多样</a:t>
            </a:r>
            <a:endParaRPr lang="zh-CN" altLang="en-US" sz="2000" b="1"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335915" y="6484620"/>
            <a:ext cx="11334750" cy="262890"/>
          </a:xfrm>
          <a:prstGeom prst="rect">
            <a:avLst/>
          </a:prstGeom>
          <a:noFill/>
        </p:spPr>
        <p:txBody>
          <a:bodyPr wrap="square">
            <a:noAutofit/>
          </a:bodyPr>
          <a:lstStyle/>
          <a:p>
            <a:r>
              <a:rPr lang="en-US" altLang="zh-CN" sz="1100" b="1"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b="1" kern="100" dirty="0">
                <a:latin typeface="微软雅黑" panose="020B0503020204020204" pitchFamily="34" charset="-122"/>
                <a:ea typeface="微软雅黑" panose="020B0503020204020204" pitchFamily="34" charset="-122"/>
                <a:cs typeface="Times New Roman" panose="02020603050405020304" pitchFamily="18" charset="0"/>
              </a:rPr>
              <a:t>挥发性有机物（VOCs）污染防治技术政策</a:t>
            </a:r>
            <a:r>
              <a:rPr lang="en-US" altLang="zh-CN" sz="1100" b="1"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b="1"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《2022</a:t>
            </a:r>
            <a:r>
              <a:rPr lang="zh-CN" altLang="en-US" sz="1100" b="1" kern="100" dirty="0">
                <a:latin typeface="微软雅黑" panose="020B0503020204020204" pitchFamily="34" charset="-122"/>
                <a:ea typeface="微软雅黑" panose="020B0503020204020204" pitchFamily="34" charset="-122"/>
                <a:cs typeface="Times New Roman" panose="02020603050405020304" pitchFamily="18" charset="0"/>
                <a:sym typeface="+mn-ea"/>
              </a:rPr>
              <a:t>中国生态环境统计年报</a:t>
            </a:r>
            <a:r>
              <a:rPr lang="en-US" altLang="zh-CN" sz="1100" b="1"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100" b="1"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a:t>
            </a:r>
            <a:r>
              <a:rPr sz="1100" b="1" dirty="0">
                <a:effectLst/>
                <a:latin typeface="微软雅黑" panose="020B0503020204020204" pitchFamily="34" charset="-122"/>
                <a:ea typeface="微软雅黑" panose="020B0503020204020204" pitchFamily="34" charset="-122"/>
                <a:sym typeface="+mn-ea"/>
              </a:rPr>
              <a:t>"十四五"规划和2035年远景目标纲要</a:t>
            </a:r>
            <a:r>
              <a:rPr lang="zh-CN" altLang="en-US" sz="1100" b="1"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100" b="1"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《空气质量持续改善行动计划》</a:t>
            </a:r>
            <a:endParaRPr lang="zh-CN" altLang="en-US" sz="1100" b="1" dirty="0">
              <a:latin typeface="微软雅黑" panose="020B0503020204020204" pitchFamily="34" charset="-122"/>
              <a:ea typeface="微软雅黑" panose="020B0503020204020204" pitchFamily="34" charset="-122"/>
            </a:endParaRPr>
          </a:p>
          <a:p>
            <a:endParaRPr lang="en-US" altLang="zh-CN" sz="1100" b="1" dirty="0">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335915" y="6371130"/>
            <a:ext cx="115200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0" y="676910"/>
            <a:ext cx="12192000" cy="510540"/>
          </a:xfrm>
          <a:prstGeom prst="rect">
            <a:avLst/>
          </a:prstGeom>
          <a:solidFill>
            <a:srgbClr val="387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31750" y="695643"/>
            <a:ext cx="4755515"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1.1  </a:t>
            </a:r>
            <a:r>
              <a:rPr lang="zh-CN" altLang="en-US" sz="2400" b="1" dirty="0">
                <a:solidFill>
                  <a:schemeClr val="bg1"/>
                </a:solidFill>
                <a:latin typeface="微软雅黑" panose="020B0503020204020204" pitchFamily="34" charset="-122"/>
                <a:ea typeface="微软雅黑" panose="020B0503020204020204" pitchFamily="34" charset="-122"/>
                <a:sym typeface="+mn-ea"/>
              </a:rPr>
              <a:t>挥发性有机物的来源与危害</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7" name="矩形 46"/>
          <p:cNvSpPr/>
          <p:nvPr/>
        </p:nvSpPr>
        <p:spPr>
          <a:xfrm>
            <a:off x="11671502" y="6446444"/>
            <a:ext cx="520825" cy="406352"/>
          </a:xfrm>
          <a:prstGeom prst="rect">
            <a:avLst/>
          </a:prstGeom>
          <a:solidFill>
            <a:srgbClr val="387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44" name="文本框 43"/>
          <p:cNvSpPr txBox="1"/>
          <p:nvPr/>
        </p:nvSpPr>
        <p:spPr>
          <a:xfrm>
            <a:off x="2771277" y="5899150"/>
            <a:ext cx="3178175" cy="306705"/>
          </a:xfrm>
          <a:prstGeom prst="rect">
            <a:avLst/>
          </a:prstGeom>
          <a:noFill/>
        </p:spPr>
        <p:txBody>
          <a:bodyPr wrap="square">
            <a:spAutoFit/>
          </a:bodyPr>
          <a:lstStyle/>
          <a:p>
            <a:pPr algn="ctr"/>
            <a:r>
              <a:rPr lang="en-US" altLang="zh-CN" sz="1400" kern="100" dirty="0">
                <a:effectLst/>
                <a:latin typeface="微软雅黑" panose="020B0503020204020204" pitchFamily="34" charset="-122"/>
                <a:ea typeface="微软雅黑" panose="020B0503020204020204" pitchFamily="34" charset="-122"/>
                <a:sym typeface="+mn-ea"/>
              </a:rPr>
              <a:t>22</a:t>
            </a:r>
            <a:r>
              <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年全国</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挥发性有机物</a:t>
            </a:r>
            <a:r>
              <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排放</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sym typeface="+mn-ea"/>
              </a:rPr>
              <a:t>量</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sym typeface="+mn-ea"/>
              </a:rPr>
              <a:t>万吨）</a:t>
            </a:r>
            <a:endParaRPr lang="zh-CN" altLang="en-US" sz="1400" dirty="0">
              <a:latin typeface="微软雅黑" panose="020B0503020204020204" pitchFamily="34" charset="-122"/>
              <a:ea typeface="微软雅黑" panose="020B0503020204020204" pitchFamily="34" charset="-122"/>
            </a:endParaRPr>
          </a:p>
        </p:txBody>
      </p:sp>
      <p:sp>
        <p:nvSpPr>
          <p:cNvPr id="52" name="矩形 51"/>
          <p:cNvSpPr>
            <a:spLocks noChangeAspect="1"/>
          </p:cNvSpPr>
          <p:nvPr/>
        </p:nvSpPr>
        <p:spPr>
          <a:xfrm>
            <a:off x="57150" y="31750"/>
            <a:ext cx="612000" cy="611717"/>
          </a:xfrm>
          <a:prstGeom prst="rect">
            <a:avLst/>
          </a:prstGeom>
          <a:solidFill>
            <a:srgbClr val="387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7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01</a:t>
            </a:r>
            <a:endParaRPr kumimoji="0" lang="zh-CN" altLang="en-US" sz="27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3" name="直接连接符 52"/>
          <p:cNvCxnSpPr/>
          <p:nvPr/>
        </p:nvCxnSpPr>
        <p:spPr>
          <a:xfrm>
            <a:off x="2108870" y="337609"/>
            <a:ext cx="4680000" cy="0"/>
          </a:xfrm>
          <a:prstGeom prst="line">
            <a:avLst/>
          </a:prstGeom>
          <a:ln w="28575" cmpd="dbl">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4" name="Text Box 18"/>
          <p:cNvSpPr txBox="1">
            <a:spLocks noChangeArrowheads="1"/>
          </p:cNvSpPr>
          <p:nvPr/>
        </p:nvSpPr>
        <p:spPr bwMode="gray">
          <a:xfrm>
            <a:off x="659952" y="107421"/>
            <a:ext cx="160719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spcAft>
                <a:spcPts val="600"/>
              </a:spcAft>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研究背景</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descr="校标蓝色"/>
          <p:cNvPicPr>
            <a:picLocks noChangeAspect="1"/>
          </p:cNvPicPr>
          <p:nvPr>
            <p:custDataLst>
              <p:tags r:id="rId2"/>
            </p:custDataLst>
          </p:nvPr>
        </p:nvPicPr>
        <p:blipFill>
          <a:blip r:embed="rId3"/>
          <a:stretch>
            <a:fillRect/>
          </a:stretch>
        </p:blipFill>
        <p:spPr>
          <a:xfrm>
            <a:off x="6908165" y="13609"/>
            <a:ext cx="2397296" cy="648000"/>
          </a:xfrm>
          <a:prstGeom prst="rect">
            <a:avLst/>
          </a:prstGeom>
        </p:spPr>
      </p:pic>
      <p:pic>
        <p:nvPicPr>
          <p:cNvPr id="3" name="图片 2" descr="创新港标识"/>
          <p:cNvPicPr>
            <a:picLocks noChangeAspect="1"/>
          </p:cNvPicPr>
          <p:nvPr/>
        </p:nvPicPr>
        <p:blipFill>
          <a:blip r:embed="rId4"/>
          <a:stretch>
            <a:fillRect/>
          </a:stretch>
        </p:blipFill>
        <p:spPr>
          <a:xfrm>
            <a:off x="9477375" y="13609"/>
            <a:ext cx="2627027" cy="648000"/>
          </a:xfrm>
          <a:prstGeom prst="rect">
            <a:avLst/>
          </a:prstGeom>
        </p:spPr>
      </p:pic>
      <p:pic>
        <p:nvPicPr>
          <p:cNvPr id="9" name="图片 8" descr="图片9"/>
          <p:cNvPicPr>
            <a:picLocks noChangeAspect="1"/>
          </p:cNvPicPr>
          <p:nvPr/>
        </p:nvPicPr>
        <p:blipFill>
          <a:blip r:embed="rId5"/>
          <a:srcRect l="22351" t="25071" r="6000" b="10131"/>
          <a:stretch>
            <a:fillRect/>
          </a:stretch>
        </p:blipFill>
        <p:spPr>
          <a:xfrm>
            <a:off x="2920365" y="3857625"/>
            <a:ext cx="2880000" cy="2041645"/>
          </a:xfrm>
          <a:prstGeom prst="rect">
            <a:avLst/>
          </a:prstGeom>
        </p:spPr>
      </p:pic>
      <p:sp>
        <p:nvSpPr>
          <p:cNvPr id="10" name="矩形 9"/>
          <p:cNvSpPr/>
          <p:nvPr/>
        </p:nvSpPr>
        <p:spPr>
          <a:xfrm>
            <a:off x="335915" y="2447925"/>
            <a:ext cx="2282190" cy="776605"/>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自然源</a:t>
            </a:r>
            <a:r>
              <a:rPr lang="zh-CN" altLang="en-US">
                <a:solidFill>
                  <a:schemeClr val="tx1"/>
                </a:solidFill>
                <a:latin typeface="微软雅黑" panose="020B0503020204020204" pitchFamily="34" charset="-122"/>
                <a:ea typeface="微软雅黑" panose="020B0503020204020204" pitchFamily="34" charset="-122"/>
              </a:rPr>
              <a:t>：植物呼吸、火山喷发等</a:t>
            </a:r>
            <a:endParaRPr lang="en-US" altLang="zh-CN">
              <a:solidFill>
                <a:schemeClr val="tx1"/>
              </a:solidFill>
              <a:latin typeface="微软雅黑" panose="020B0503020204020204" pitchFamily="34" charset="-122"/>
              <a:ea typeface="微软雅黑" panose="020B0503020204020204" pitchFamily="34" charset="-122"/>
            </a:endParaRPr>
          </a:p>
        </p:txBody>
      </p:sp>
      <p:sp>
        <p:nvSpPr>
          <p:cNvPr id="14" name="矩形 13"/>
          <p:cNvSpPr/>
          <p:nvPr>
            <p:custDataLst>
              <p:tags r:id="rId6"/>
            </p:custDataLst>
          </p:nvPr>
        </p:nvSpPr>
        <p:spPr>
          <a:xfrm>
            <a:off x="335915" y="3585210"/>
            <a:ext cx="2282190" cy="107950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生活源</a:t>
            </a:r>
            <a:r>
              <a:rPr lang="zh-CN" altLang="en-US">
                <a:solidFill>
                  <a:schemeClr val="tx1"/>
                </a:solidFill>
                <a:latin typeface="微软雅黑" panose="020B0503020204020204" pitchFamily="34" charset="-122"/>
                <a:ea typeface="微软雅黑" panose="020B0503020204020204" pitchFamily="34" charset="-122"/>
              </a:rPr>
              <a:t>：房屋装修、垃圾焚烧、农药喷撒、油烟排放等</a:t>
            </a: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6" name="矩形 15"/>
          <p:cNvSpPr/>
          <p:nvPr>
            <p:custDataLst>
              <p:tags r:id="rId7"/>
            </p:custDataLst>
          </p:nvPr>
        </p:nvSpPr>
        <p:spPr>
          <a:xfrm>
            <a:off x="335915" y="5025390"/>
            <a:ext cx="2282190" cy="107950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移动源</a:t>
            </a:r>
            <a:r>
              <a:rPr lang="zh-CN" altLang="en-US">
                <a:solidFill>
                  <a:schemeClr val="tx1"/>
                </a:solidFill>
                <a:latin typeface="微软雅黑" panose="020B0503020204020204" pitchFamily="34" charset="-122"/>
                <a:ea typeface="微软雅黑" panose="020B0503020204020204" pitchFamily="34" charset="-122"/>
              </a:rPr>
              <a:t>：汽车、火车、飞机等交通工具的废气排放</a:t>
            </a: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9" name="矩形 18"/>
          <p:cNvSpPr/>
          <p:nvPr>
            <p:custDataLst>
              <p:tags r:id="rId8"/>
            </p:custDataLst>
          </p:nvPr>
        </p:nvSpPr>
        <p:spPr>
          <a:xfrm>
            <a:off x="3028365" y="2447925"/>
            <a:ext cx="2664000" cy="136800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工业源</a:t>
            </a:r>
            <a:r>
              <a:rPr lang="zh-CN" altLang="en-US">
                <a:solidFill>
                  <a:schemeClr val="tx1"/>
                </a:solidFill>
                <a:latin typeface="微软雅黑" panose="020B0503020204020204" pitchFamily="34" charset="-122"/>
                <a:ea typeface="微软雅黑" panose="020B0503020204020204" pitchFamily="34" charset="-122"/>
              </a:rPr>
              <a:t>：石油化工、涂料油漆、汽车制造、包装印刷、塑料生产等众多行业</a:t>
            </a: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1" name="矩形 20"/>
          <p:cNvSpPr/>
          <p:nvPr>
            <p:custDataLst>
              <p:tags r:id="rId9"/>
            </p:custDataLst>
          </p:nvPr>
        </p:nvSpPr>
        <p:spPr>
          <a:xfrm>
            <a:off x="6343650" y="2447925"/>
            <a:ext cx="5512435" cy="54000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危害人体健康</a:t>
            </a:r>
            <a:r>
              <a:rPr lang="zh-CN" altLang="en-US">
                <a:solidFill>
                  <a:schemeClr val="tx1"/>
                </a:solidFill>
                <a:latin typeface="微软雅黑" panose="020B0503020204020204" pitchFamily="34" charset="-122"/>
                <a:ea typeface="微软雅黑" panose="020B0503020204020204" pitchFamily="34" charset="-122"/>
              </a:rPr>
              <a:t>：本身具有刺激性或毒性、部分致癌</a:t>
            </a:r>
            <a:endParaRPr lang="en-US" altLang="zh-CN">
              <a:solidFill>
                <a:schemeClr val="tx1"/>
              </a:solidFill>
              <a:latin typeface="微软雅黑" panose="020B0503020204020204" pitchFamily="34" charset="-122"/>
              <a:ea typeface="微软雅黑" panose="020B0503020204020204" pitchFamily="34" charset="-122"/>
            </a:endParaRPr>
          </a:p>
        </p:txBody>
      </p:sp>
      <p:sp>
        <p:nvSpPr>
          <p:cNvPr id="22" name="矩形 21"/>
          <p:cNvSpPr/>
          <p:nvPr>
            <p:custDataLst>
              <p:tags r:id="rId10"/>
            </p:custDataLst>
          </p:nvPr>
        </p:nvSpPr>
        <p:spPr>
          <a:xfrm>
            <a:off x="6343650" y="3225415"/>
            <a:ext cx="5512435" cy="53975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安全隐患</a:t>
            </a:r>
            <a:r>
              <a:rPr lang="zh-CN" altLang="en-US">
                <a:solidFill>
                  <a:schemeClr val="tx1"/>
                </a:solidFill>
                <a:latin typeface="微软雅黑" panose="020B0503020204020204" pitchFamily="34" charset="-122"/>
                <a:ea typeface="微软雅黑" panose="020B0503020204020204" pitchFamily="34" charset="-122"/>
              </a:rPr>
              <a:t>：很多 VOCs 易燃易爆，引发火灾或爆炸</a:t>
            </a: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6" name="矩形 25"/>
          <p:cNvSpPr/>
          <p:nvPr>
            <p:custDataLst>
              <p:tags r:id="rId11"/>
            </p:custDataLst>
          </p:nvPr>
        </p:nvSpPr>
        <p:spPr>
          <a:xfrm>
            <a:off x="6343650" y="4002655"/>
            <a:ext cx="5512435" cy="53975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just" fontAlgn="auto">
              <a:lnSpc>
                <a:spcPct val="120000"/>
              </a:lnSpc>
            </a:pPr>
            <a:r>
              <a:rPr lang="zh-CN" altLang="en-US">
                <a:solidFill>
                  <a:srgbClr val="FF0000"/>
                </a:solidFill>
                <a:latin typeface="微软雅黑" panose="020B0503020204020204" pitchFamily="34" charset="-122"/>
                <a:ea typeface="微软雅黑" panose="020B0503020204020204" pitchFamily="34" charset="-122"/>
              </a:rPr>
              <a:t>二次污染</a:t>
            </a:r>
            <a:r>
              <a:rPr lang="zh-CN" altLang="en-US">
                <a:solidFill>
                  <a:schemeClr val="tx1"/>
                </a:solidFill>
                <a:latin typeface="微软雅黑" panose="020B0503020204020204" pitchFamily="34" charset="-122"/>
                <a:ea typeface="微软雅黑" panose="020B0503020204020204" pitchFamily="34" charset="-122"/>
              </a:rPr>
              <a:t>：生成二次有机气溶胶，导致灰霾等</a:t>
            </a: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8" name="文本框 27"/>
          <p:cNvSpPr txBox="1"/>
          <p:nvPr>
            <p:custDataLst>
              <p:tags r:id="rId12"/>
            </p:custDataLst>
          </p:nvPr>
        </p:nvSpPr>
        <p:spPr>
          <a:xfrm>
            <a:off x="6343650" y="4681464"/>
            <a:ext cx="1489710" cy="398780"/>
          </a:xfrm>
          <a:prstGeom prst="rect">
            <a:avLst/>
          </a:prstGeom>
          <a:noFill/>
        </p:spPr>
        <p:txBody>
          <a:bodyPr wrap="square">
            <a:spAutoFit/>
          </a:bodyPr>
          <a:p>
            <a:r>
              <a:rPr lang="zh-CN" altLang="en-US" sz="2000" b="1" dirty="0">
                <a:latin typeface="微软雅黑" panose="020B0503020204020204" pitchFamily="34" charset="-122"/>
                <a:ea typeface="微软雅黑" panose="020B0503020204020204" pitchFamily="34" charset="-122"/>
              </a:rPr>
              <a:t>国家政策</a:t>
            </a:r>
            <a:endParaRPr lang="zh-CN" altLang="en-US" sz="2000" b="1" dirty="0">
              <a:latin typeface="微软雅黑" panose="020B0503020204020204" pitchFamily="34" charset="-122"/>
              <a:ea typeface="微软雅黑" panose="020B0503020204020204" pitchFamily="34" charset="-122"/>
            </a:endParaRPr>
          </a:p>
        </p:txBody>
      </p:sp>
      <p:sp>
        <p:nvSpPr>
          <p:cNvPr id="34" name="矩形 33"/>
          <p:cNvSpPr/>
          <p:nvPr>
            <p:custDataLst>
              <p:tags r:id="rId13"/>
            </p:custDataLst>
          </p:nvPr>
        </p:nvSpPr>
        <p:spPr>
          <a:xfrm>
            <a:off x="6343650" y="5184775"/>
            <a:ext cx="5512435" cy="920115"/>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just" fontAlgn="auto">
              <a:lnSpc>
                <a:spcPct val="150000"/>
              </a:lnSpc>
              <a:buFont typeface="Wingdings" panose="05000000000000000000" charset="0"/>
              <a:buChar char="ü"/>
            </a:pPr>
            <a:r>
              <a:rPr lang="zh-CN" altLang="en-US" dirty="0">
                <a:solidFill>
                  <a:srgbClr val="333333"/>
                </a:solidFill>
                <a:effectLst/>
                <a:latin typeface="微软雅黑" panose="020B0503020204020204" pitchFamily="34" charset="-122"/>
                <a:ea typeface="微软雅黑" panose="020B0503020204020204" pitchFamily="34" charset="-122"/>
                <a:sym typeface="+mn-ea"/>
              </a:rPr>
              <a:t>加快</a:t>
            </a:r>
            <a:r>
              <a:rPr lang="zh-CN" altLang="en-US" dirty="0">
                <a:solidFill>
                  <a:schemeClr val="tx1"/>
                </a:solidFill>
                <a:effectLst/>
                <a:latin typeface="微软雅黑" panose="020B0503020204020204" pitchFamily="34" charset="-122"/>
                <a:ea typeface="微软雅黑" panose="020B0503020204020204" pitchFamily="34" charset="-122"/>
                <a:sym typeface="+mn-ea"/>
              </a:rPr>
              <a:t>挥发性有机物</a:t>
            </a:r>
            <a:r>
              <a:rPr lang="zh-CN" altLang="en-US" dirty="0">
                <a:solidFill>
                  <a:srgbClr val="FF0000"/>
                </a:solidFill>
                <a:effectLst/>
                <a:latin typeface="微软雅黑" panose="020B0503020204020204" pitchFamily="34" charset="-122"/>
                <a:ea typeface="微软雅黑" panose="020B0503020204020204" pitchFamily="34" charset="-122"/>
                <a:sym typeface="+mn-ea"/>
              </a:rPr>
              <a:t>排放综合整治</a:t>
            </a:r>
            <a:r>
              <a:rPr lang="zh-CN" altLang="en-US" dirty="0">
                <a:solidFill>
                  <a:srgbClr val="333333"/>
                </a:solidFill>
                <a:effectLst/>
                <a:latin typeface="微软雅黑" panose="020B0503020204020204" pitchFamily="34" charset="-122"/>
                <a:ea typeface="微软雅黑" panose="020B0503020204020204" pitchFamily="34" charset="-122"/>
                <a:sym typeface="+mn-ea"/>
              </a:rPr>
              <a:t>、大力推动</a:t>
            </a:r>
            <a:r>
              <a:rPr lang="zh-CN" altLang="en-US" dirty="0">
                <a:solidFill>
                  <a:srgbClr val="FF0000"/>
                </a:solidFill>
                <a:effectLst/>
                <a:latin typeface="微软雅黑" panose="020B0503020204020204" pitchFamily="34" charset="-122"/>
                <a:ea typeface="微软雅黑" panose="020B0503020204020204" pitchFamily="34" charset="-122"/>
                <a:sym typeface="+mn-ea"/>
              </a:rPr>
              <a:t>减排</a:t>
            </a:r>
            <a:endParaRPr lang="zh-CN" altLang="en-US" dirty="0">
              <a:solidFill>
                <a:srgbClr val="333333"/>
              </a:solidFill>
              <a:effectLst/>
              <a:latin typeface="微软雅黑" panose="020B0503020204020204" pitchFamily="34" charset="-122"/>
              <a:ea typeface="微软雅黑" panose="020B0503020204020204" pitchFamily="34" charset="-122"/>
              <a:sym typeface="+mn-ea"/>
            </a:endParaRPr>
          </a:p>
          <a:p>
            <a:pPr marL="285750" indent="-285750" algn="just" fontAlgn="auto">
              <a:lnSpc>
                <a:spcPct val="150000"/>
              </a:lnSpc>
              <a:buFont typeface="Wingdings" panose="05000000000000000000" charset="0"/>
              <a:buChar char="ü"/>
            </a:pPr>
            <a:r>
              <a:rPr dirty="0">
                <a:solidFill>
                  <a:schemeClr val="tx1"/>
                </a:solidFill>
                <a:effectLst/>
                <a:latin typeface="微软雅黑" panose="020B0503020204020204" pitchFamily="34" charset="-122"/>
                <a:ea typeface="微软雅黑" panose="020B0503020204020204" pitchFamily="34" charset="-122"/>
                <a:sym typeface="+mn-ea"/>
              </a:rPr>
              <a:t>2025年</a:t>
            </a:r>
            <a:r>
              <a:rPr dirty="0">
                <a:solidFill>
                  <a:srgbClr val="FF0000"/>
                </a:solidFill>
                <a:effectLst/>
                <a:latin typeface="微软雅黑" panose="020B0503020204020204" pitchFamily="34" charset="-122"/>
                <a:ea typeface="微软雅黑" panose="020B0503020204020204" pitchFamily="34" charset="-122"/>
                <a:sym typeface="+mn-ea"/>
              </a:rPr>
              <a:t>VOCs</a:t>
            </a:r>
            <a:r>
              <a:rPr dirty="0">
                <a:solidFill>
                  <a:srgbClr val="333333"/>
                </a:solidFill>
                <a:effectLst/>
                <a:latin typeface="微软雅黑" panose="020B0503020204020204" pitchFamily="34" charset="-122"/>
                <a:ea typeface="微软雅黑" panose="020B0503020204020204" pitchFamily="34" charset="-122"/>
                <a:sym typeface="+mn-ea"/>
              </a:rPr>
              <a:t>排放总量比2020年</a:t>
            </a:r>
            <a:r>
              <a:rPr dirty="0">
                <a:solidFill>
                  <a:srgbClr val="FF0000"/>
                </a:solidFill>
                <a:effectLst/>
                <a:latin typeface="微软雅黑" panose="020B0503020204020204" pitchFamily="34" charset="-122"/>
                <a:ea typeface="微软雅黑" panose="020B0503020204020204" pitchFamily="34" charset="-122"/>
                <a:sym typeface="+mn-ea"/>
              </a:rPr>
              <a:t>下降10%以上</a:t>
            </a:r>
            <a:endParaRPr lang="zh-CN" altLang="en-US" dirty="0">
              <a:solidFill>
                <a:srgbClr val="FF0000"/>
              </a:solidFill>
              <a:effectLst/>
              <a:latin typeface="微软雅黑" panose="020B0503020204020204" pitchFamily="34" charset="-122"/>
              <a:ea typeface="微软雅黑" panose="020B0503020204020204" pitchFamily="34" charset="-122"/>
              <a:sym typeface="+mn-ea"/>
            </a:endParaRPr>
          </a:p>
        </p:txBody>
      </p:sp>
      <p:sp>
        <p:nvSpPr>
          <p:cNvPr id="5" name="矩形 4"/>
          <p:cNvSpPr/>
          <p:nvPr>
            <p:custDataLst>
              <p:tags r:id="rId14"/>
            </p:custDataLst>
          </p:nvPr>
        </p:nvSpPr>
        <p:spPr>
          <a:xfrm>
            <a:off x="335915" y="1256030"/>
            <a:ext cx="11520805" cy="45974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120000"/>
              </a:lnSpc>
              <a:spcBef>
                <a:spcPts val="0"/>
              </a:spcBef>
              <a:spcAft>
                <a:spcPts val="0"/>
              </a:spcAft>
            </a:pPr>
            <a:r>
              <a:rPr lang="zh-CN" altLang="en-US" b="1">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sym typeface="+mn-ea"/>
              </a:rPr>
              <a:t>定义</a:t>
            </a:r>
            <a:r>
              <a:rPr lang="zh-CN" altLang="en-US">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sym typeface="+mn-ea"/>
              </a:rPr>
              <a:t>：环境温度下饱和蒸汽压大于 70 Pa，或在环境压力下沸点</a:t>
            </a:r>
            <a:r>
              <a:rPr lang="en-US" altLang="zh-CN">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sym typeface="+mn-ea"/>
              </a:rPr>
              <a:t>低于 260 ℃，熔点小于室温的有机化合物</a:t>
            </a:r>
            <a:r>
              <a:rPr lang="zh-CN" altLang="en-US">
                <a:solidFill>
                  <a:schemeClr val="tx1"/>
                </a:solidFill>
                <a:uFillTx/>
                <a:latin typeface="Times New Roman" panose="02020603050405020304" pitchFamily="18" charset="0"/>
                <a:ea typeface="微软雅黑" panose="020B0503020204020204" pitchFamily="34" charset="-122"/>
                <a:cs typeface="微软雅黑" panose="020B0503020204020204" pitchFamily="34" charset="-122"/>
                <a:sym typeface="+mn-ea"/>
              </a:rPr>
              <a:t>。</a:t>
            </a:r>
            <a:endParaRPr lang="en-US" altLang="zh-CN">
              <a:solidFill>
                <a:schemeClr val="tx1"/>
              </a:solidFill>
              <a:latin typeface="微软雅黑" panose="020B0503020204020204" pitchFamily="34" charset="-122"/>
              <a:ea typeface="微软雅黑" panose="020B0503020204020204" pitchFamily="34" charset="-122"/>
            </a:endParaRPr>
          </a:p>
        </p:txBody>
      </p:sp>
      <p:sp>
        <p:nvSpPr>
          <p:cNvPr id="4" name="矩形 3"/>
          <p:cNvSpPr/>
          <p:nvPr/>
        </p:nvSpPr>
        <p:spPr>
          <a:xfrm>
            <a:off x="324485" y="1806575"/>
            <a:ext cx="5666105" cy="4480560"/>
          </a:xfrm>
          <a:prstGeom prst="rect">
            <a:avLst/>
          </a:prstGeom>
          <a:noFill/>
          <a:ln w="28575" cmpd="sng">
            <a:solidFill>
              <a:schemeClr val="accent1">
                <a:shade val="5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custDataLst>
              <p:tags r:id="rId15"/>
            </p:custDataLst>
          </p:nvPr>
        </p:nvSpPr>
        <p:spPr>
          <a:xfrm>
            <a:off x="6189980" y="4636770"/>
            <a:ext cx="5666105" cy="1650365"/>
          </a:xfrm>
          <a:prstGeom prst="rect">
            <a:avLst/>
          </a:prstGeom>
          <a:noFill/>
          <a:ln w="28575" cmpd="sng">
            <a:solidFill>
              <a:schemeClr val="accent1">
                <a:shade val="5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直接连接符 39"/>
          <p:cNvCxnSpPr/>
          <p:nvPr/>
        </p:nvCxnSpPr>
        <p:spPr>
          <a:xfrm>
            <a:off x="335915" y="6371130"/>
            <a:ext cx="115200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0" y="676910"/>
            <a:ext cx="12192000" cy="510540"/>
          </a:xfrm>
          <a:prstGeom prst="rect">
            <a:avLst/>
          </a:prstGeom>
          <a:solidFill>
            <a:srgbClr val="387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31750" y="695960"/>
            <a:ext cx="10440670" cy="460375"/>
          </a:xfrm>
          <a:prstGeom prst="rect">
            <a:avLst/>
          </a:prstGeom>
          <a:noFill/>
        </p:spPr>
        <p:txBody>
          <a:bodyPr wrap="squar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2.3  </a:t>
            </a:r>
            <a:r>
              <a:rPr lang="zh-CN" altLang="en-US" sz="2400" b="1" dirty="0">
                <a:solidFill>
                  <a:schemeClr val="bg1"/>
                </a:solidFill>
                <a:latin typeface="微软雅黑" panose="020B0503020204020204" pitchFamily="34" charset="-122"/>
                <a:ea typeface="微软雅黑" panose="020B0503020204020204" pitchFamily="34" charset="-122"/>
                <a:sym typeface="+mn-ea"/>
              </a:rPr>
              <a:t>一步熔盐法MXene衍生过渡金属催化剂用于催化燃烧的研究</a:t>
            </a:r>
            <a:endParaRPr lang="zh-CN" altLang="en-US" sz="2400" b="1" dirty="0">
              <a:solidFill>
                <a:schemeClr val="bg1"/>
              </a:solidFill>
              <a:latin typeface="微软雅黑" panose="020B0503020204020204" pitchFamily="34" charset="-122"/>
              <a:ea typeface="微软雅黑" panose="020B0503020204020204" pitchFamily="34" charset="-122"/>
              <a:sym typeface="+mn-ea"/>
            </a:endParaRPr>
          </a:p>
        </p:txBody>
      </p:sp>
      <p:sp>
        <p:nvSpPr>
          <p:cNvPr id="47" name="矩形 46"/>
          <p:cNvSpPr/>
          <p:nvPr/>
        </p:nvSpPr>
        <p:spPr>
          <a:xfrm>
            <a:off x="11671502" y="6446444"/>
            <a:ext cx="520825" cy="406352"/>
          </a:xfrm>
          <a:prstGeom prst="rect">
            <a:avLst/>
          </a:prstGeom>
          <a:solidFill>
            <a:srgbClr val="387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52" name="矩形 51"/>
          <p:cNvSpPr>
            <a:spLocks noChangeAspect="1"/>
          </p:cNvSpPr>
          <p:nvPr/>
        </p:nvSpPr>
        <p:spPr>
          <a:xfrm>
            <a:off x="57150" y="31750"/>
            <a:ext cx="612000" cy="611717"/>
          </a:xfrm>
          <a:prstGeom prst="rect">
            <a:avLst/>
          </a:prstGeom>
          <a:solidFill>
            <a:srgbClr val="387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7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02</a:t>
            </a:r>
            <a:endParaRPr kumimoji="0" lang="zh-CN" altLang="en-US" sz="27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3" name="直接连接符 52"/>
          <p:cNvCxnSpPr/>
          <p:nvPr/>
        </p:nvCxnSpPr>
        <p:spPr>
          <a:xfrm>
            <a:off x="2108870" y="337609"/>
            <a:ext cx="4680000" cy="0"/>
          </a:xfrm>
          <a:prstGeom prst="line">
            <a:avLst/>
          </a:prstGeom>
          <a:ln w="28575" cmpd="dbl">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4" name="Text Box 18"/>
          <p:cNvSpPr txBox="1">
            <a:spLocks noChangeArrowheads="1"/>
          </p:cNvSpPr>
          <p:nvPr/>
        </p:nvSpPr>
        <p:spPr bwMode="gray">
          <a:xfrm>
            <a:off x="659952" y="107421"/>
            <a:ext cx="160719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spcAft>
                <a:spcPts val="600"/>
              </a:spcAft>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研究进展</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descr="校标蓝色"/>
          <p:cNvPicPr>
            <a:picLocks noChangeAspect="1"/>
          </p:cNvPicPr>
          <p:nvPr>
            <p:custDataLst>
              <p:tags r:id="rId1"/>
            </p:custDataLst>
          </p:nvPr>
        </p:nvPicPr>
        <p:blipFill>
          <a:blip r:embed="rId2"/>
          <a:stretch>
            <a:fillRect/>
          </a:stretch>
        </p:blipFill>
        <p:spPr>
          <a:xfrm>
            <a:off x="6908165" y="13609"/>
            <a:ext cx="2397296" cy="648000"/>
          </a:xfrm>
          <a:prstGeom prst="rect">
            <a:avLst/>
          </a:prstGeom>
        </p:spPr>
      </p:pic>
      <p:pic>
        <p:nvPicPr>
          <p:cNvPr id="3" name="图片 2" descr="创新港标识"/>
          <p:cNvPicPr>
            <a:picLocks noChangeAspect="1"/>
          </p:cNvPicPr>
          <p:nvPr/>
        </p:nvPicPr>
        <p:blipFill>
          <a:blip r:embed="rId3"/>
          <a:stretch>
            <a:fillRect/>
          </a:stretch>
        </p:blipFill>
        <p:spPr>
          <a:xfrm>
            <a:off x="9477375" y="13609"/>
            <a:ext cx="2627027" cy="648000"/>
          </a:xfrm>
          <a:prstGeom prst="rect">
            <a:avLst/>
          </a:prstGeom>
        </p:spPr>
      </p:pic>
      <p:sp>
        <p:nvSpPr>
          <p:cNvPr id="4" name="文本框 3"/>
          <p:cNvSpPr txBox="1"/>
          <p:nvPr>
            <p:custDataLst>
              <p:tags r:id="rId4"/>
            </p:custDataLst>
          </p:nvPr>
        </p:nvSpPr>
        <p:spPr>
          <a:xfrm>
            <a:off x="335915" y="6370955"/>
            <a:ext cx="11335385" cy="435610"/>
          </a:xfrm>
          <a:prstGeom prst="rect">
            <a:avLst/>
          </a:prstGeom>
          <a:noFill/>
        </p:spPr>
        <p:txBody>
          <a:bodyPr wrap="square" rtlCol="0" anchor="t">
            <a:spAutoFit/>
          </a:bodyPr>
          <a:p>
            <a:pPr indent="0" algn="just" fontAlgn="auto">
              <a:lnSpc>
                <a:spcPct val="140000"/>
              </a:lnSpc>
              <a:buClrTx/>
              <a:buSzTx/>
              <a:buFont typeface="Wingdings" panose="05000000000000000000" charset="0"/>
              <a:buNone/>
            </a:pPr>
            <a:r>
              <a:rPr lang="zh-CN" altLang="en-US" sz="1600">
                <a:latin typeface="Times New Roman" panose="02020603050405020304" pitchFamily="18" charset="0"/>
                <a:ea typeface="微软雅黑" panose="020B0503020204020204" pitchFamily="34" charset="-122"/>
                <a:cs typeface="微软雅黑" panose="020B0503020204020204" pitchFamily="34" charset="-122"/>
                <a:sym typeface="+mn-ea"/>
              </a:rPr>
              <a:t>图</a:t>
            </a:r>
            <a:r>
              <a:rPr lang="en-US" altLang="zh-CN" sz="1600">
                <a:latin typeface="Times New Roman" panose="02020603050405020304" pitchFamily="18" charset="0"/>
                <a:ea typeface="微软雅黑" panose="020B0503020204020204" pitchFamily="34" charset="-122"/>
                <a:cs typeface="微软雅黑" panose="020B0503020204020204" pitchFamily="34" charset="-122"/>
                <a:sym typeface="+mn-ea"/>
              </a:rPr>
              <a:t>2.3.3</a:t>
            </a:r>
            <a:r>
              <a:rPr lang="zh-CN" sz="1600">
                <a:latin typeface="Times New Roman" panose="02020603050405020304" pitchFamily="18" charset="0"/>
                <a:ea typeface="宋体" panose="02010600030101010101" pitchFamily="2" charset="-122"/>
                <a:sym typeface="+mn-ea"/>
              </a:rPr>
              <a:t> 不同负载比例制备的</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MnO</a:t>
            </a:r>
            <a:r>
              <a:rPr lang="zh-CN" sz="1600" baseline="-25000">
                <a:latin typeface="Times New Roman" panose="02020603050405020304" pitchFamily="18" charset="0"/>
                <a:ea typeface="宋体" panose="02010600030101010101" pitchFamily="2" charset="-122"/>
                <a:cs typeface="Times New Roman" panose="02020603050405020304" pitchFamily="18" charset="0"/>
                <a:sym typeface="+mn-ea"/>
              </a:rPr>
              <a:t>x</a:t>
            </a:r>
            <a:r>
              <a:rPr lang="en-US" altLang="zh-CN" sz="1600">
                <a:latin typeface="Times New Roman" panose="02020603050405020304" pitchFamily="18" charset="0"/>
                <a:ea typeface="微软雅黑" panose="020B0503020204020204" pitchFamily="34" charset="-122"/>
                <a:cs typeface="Times New Roman" panose="02020603050405020304" pitchFamily="18" charset="0"/>
                <a:sym typeface="+mn-ea"/>
              </a:rPr>
              <a:t> /TiO</a:t>
            </a:r>
            <a:r>
              <a:rPr lang="en-US" altLang="zh-CN" sz="1600" baseline="-25000">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sz="1600">
                <a:latin typeface="Times New Roman" panose="02020603050405020304" pitchFamily="18" charset="0"/>
                <a:ea typeface="宋体" panose="02010600030101010101" pitchFamily="2" charset="-122"/>
                <a:sym typeface="+mn-ea"/>
              </a:rPr>
              <a:t>的甲苯降解性能</a:t>
            </a:r>
            <a:endParaRPr lang="zh-CN" sz="1600">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sp>
        <p:nvSpPr>
          <p:cNvPr id="14" name="文本框 13"/>
          <p:cNvSpPr txBox="1"/>
          <p:nvPr>
            <p:custDataLst>
              <p:tags r:id="rId5"/>
            </p:custDataLst>
          </p:nvPr>
        </p:nvSpPr>
        <p:spPr>
          <a:xfrm>
            <a:off x="5101590" y="3594735"/>
            <a:ext cx="548640" cy="337185"/>
          </a:xfrm>
          <a:prstGeom prst="rect">
            <a:avLst/>
          </a:prstGeom>
          <a:noFill/>
        </p:spPr>
        <p:txBody>
          <a:bodyPr wrap="square" rtlCol="0">
            <a:spAutoFit/>
          </a:bodyPr>
          <a:p>
            <a:r>
              <a:rPr lang="en-US" altLang="zh-CN" sz="1600" b="1">
                <a:solidFill>
                  <a:schemeClr val="bg1"/>
                </a:solidFill>
                <a:latin typeface="Times New Roman" panose="02020603050405020304" pitchFamily="18" charset="0"/>
                <a:cs typeface="Times New Roman" panose="02020603050405020304" pitchFamily="18" charset="0"/>
                <a:sym typeface="+mn-ea"/>
              </a:rPr>
              <a:t>(a)</a:t>
            </a:r>
            <a:endParaRPr lang="en-US" altLang="zh-CN" sz="1600" b="1">
              <a:solidFill>
                <a:schemeClr val="bg1"/>
              </a:solidFill>
              <a:latin typeface="Times New Roman" panose="02020603050405020304" pitchFamily="18" charset="0"/>
              <a:cs typeface="Times New Roman" panose="02020603050405020304" pitchFamily="18" charset="0"/>
              <a:sym typeface="+mn-ea"/>
            </a:endParaRPr>
          </a:p>
        </p:txBody>
      </p:sp>
      <p:sp>
        <p:nvSpPr>
          <p:cNvPr id="6" name="文本框 5"/>
          <p:cNvSpPr txBox="1"/>
          <p:nvPr>
            <p:custDataLst>
              <p:tags r:id="rId6"/>
            </p:custDataLst>
          </p:nvPr>
        </p:nvSpPr>
        <p:spPr>
          <a:xfrm>
            <a:off x="5101590" y="3594735"/>
            <a:ext cx="548640" cy="337185"/>
          </a:xfrm>
          <a:prstGeom prst="rect">
            <a:avLst/>
          </a:prstGeom>
          <a:noFill/>
        </p:spPr>
        <p:txBody>
          <a:bodyPr wrap="square" rtlCol="0">
            <a:spAutoFit/>
          </a:bodyPr>
          <a:p>
            <a:r>
              <a:rPr lang="en-US" altLang="zh-CN" sz="1600" b="1">
                <a:solidFill>
                  <a:schemeClr val="bg1"/>
                </a:solidFill>
                <a:latin typeface="Times New Roman" panose="02020603050405020304" pitchFamily="18" charset="0"/>
                <a:cs typeface="Times New Roman" panose="02020603050405020304" pitchFamily="18" charset="0"/>
                <a:sym typeface="+mn-ea"/>
              </a:rPr>
              <a:t>(b)</a:t>
            </a:r>
            <a:endParaRPr lang="en-US" altLang="zh-CN" sz="1600" b="1">
              <a:solidFill>
                <a:schemeClr val="bg1"/>
              </a:solidFill>
              <a:latin typeface="Times New Roman" panose="02020603050405020304" pitchFamily="18" charset="0"/>
              <a:cs typeface="Times New Roman" panose="02020603050405020304" pitchFamily="18" charset="0"/>
              <a:sym typeface="+mn-ea"/>
            </a:endParaRPr>
          </a:p>
        </p:txBody>
      </p:sp>
      <p:sp>
        <p:nvSpPr>
          <p:cNvPr id="7" name="文本框 6"/>
          <p:cNvSpPr txBox="1"/>
          <p:nvPr>
            <p:custDataLst>
              <p:tags r:id="rId7"/>
            </p:custDataLst>
          </p:nvPr>
        </p:nvSpPr>
        <p:spPr>
          <a:xfrm>
            <a:off x="5101590" y="3594735"/>
            <a:ext cx="548640" cy="337185"/>
          </a:xfrm>
          <a:prstGeom prst="rect">
            <a:avLst/>
          </a:prstGeom>
          <a:noFill/>
        </p:spPr>
        <p:txBody>
          <a:bodyPr wrap="square" rtlCol="0">
            <a:spAutoFit/>
          </a:bodyPr>
          <a:p>
            <a:r>
              <a:rPr lang="en-US" altLang="zh-CN" sz="1600" b="1">
                <a:solidFill>
                  <a:schemeClr val="bg1"/>
                </a:solidFill>
                <a:latin typeface="Times New Roman" panose="02020603050405020304" pitchFamily="18" charset="0"/>
                <a:cs typeface="Times New Roman" panose="02020603050405020304" pitchFamily="18" charset="0"/>
                <a:sym typeface="+mn-ea"/>
              </a:rPr>
              <a:t>(c)</a:t>
            </a:r>
            <a:endParaRPr lang="en-US" altLang="zh-CN" sz="1600" b="1">
              <a:solidFill>
                <a:schemeClr val="bg1"/>
              </a:solidFill>
              <a:latin typeface="Times New Roman" panose="02020603050405020304" pitchFamily="18" charset="0"/>
              <a:cs typeface="Times New Roman" panose="02020603050405020304" pitchFamily="18" charset="0"/>
              <a:sym typeface="+mn-ea"/>
            </a:endParaRPr>
          </a:p>
        </p:txBody>
      </p:sp>
      <p:sp>
        <p:nvSpPr>
          <p:cNvPr id="28" name="文本框 27"/>
          <p:cNvSpPr txBox="1"/>
          <p:nvPr>
            <p:custDataLst>
              <p:tags r:id="rId8"/>
            </p:custDataLst>
          </p:nvPr>
        </p:nvSpPr>
        <p:spPr>
          <a:xfrm>
            <a:off x="5101590" y="3594735"/>
            <a:ext cx="548640" cy="337185"/>
          </a:xfrm>
          <a:prstGeom prst="rect">
            <a:avLst/>
          </a:prstGeom>
          <a:noFill/>
        </p:spPr>
        <p:txBody>
          <a:bodyPr wrap="square" rtlCol="0">
            <a:spAutoFit/>
          </a:bodyPr>
          <a:p>
            <a:r>
              <a:rPr lang="en-US" altLang="zh-CN" sz="1600" b="1">
                <a:solidFill>
                  <a:schemeClr val="bg1"/>
                </a:solidFill>
                <a:latin typeface="Times New Roman" panose="02020603050405020304" pitchFamily="18" charset="0"/>
                <a:cs typeface="Times New Roman" panose="02020603050405020304" pitchFamily="18" charset="0"/>
                <a:sym typeface="+mn-ea"/>
              </a:rPr>
              <a:t>(b)</a:t>
            </a:r>
            <a:endParaRPr lang="en-US" altLang="zh-CN" sz="1600" b="1">
              <a:solidFill>
                <a:schemeClr val="bg1"/>
              </a:solidFill>
              <a:latin typeface="Times New Roman" panose="02020603050405020304" pitchFamily="18" charset="0"/>
              <a:cs typeface="Times New Roman" panose="02020603050405020304" pitchFamily="18" charset="0"/>
              <a:sym typeface="+mn-ea"/>
            </a:endParaRPr>
          </a:p>
        </p:txBody>
      </p:sp>
      <p:sp>
        <p:nvSpPr>
          <p:cNvPr id="29" name="文本框 28"/>
          <p:cNvSpPr txBox="1"/>
          <p:nvPr>
            <p:custDataLst>
              <p:tags r:id="rId9"/>
            </p:custDataLst>
          </p:nvPr>
        </p:nvSpPr>
        <p:spPr>
          <a:xfrm>
            <a:off x="5101590" y="3594735"/>
            <a:ext cx="548640" cy="337185"/>
          </a:xfrm>
          <a:prstGeom prst="rect">
            <a:avLst/>
          </a:prstGeom>
          <a:noFill/>
        </p:spPr>
        <p:txBody>
          <a:bodyPr wrap="square" rtlCol="0">
            <a:spAutoFit/>
          </a:bodyPr>
          <a:p>
            <a:r>
              <a:rPr lang="en-US" altLang="zh-CN" sz="1600" b="1">
                <a:solidFill>
                  <a:schemeClr val="bg1"/>
                </a:solidFill>
                <a:latin typeface="Times New Roman" panose="02020603050405020304" pitchFamily="18" charset="0"/>
                <a:cs typeface="Times New Roman" panose="02020603050405020304" pitchFamily="18" charset="0"/>
                <a:sym typeface="+mn-ea"/>
              </a:rPr>
              <a:t>(c)</a:t>
            </a:r>
            <a:endParaRPr lang="en-US" altLang="zh-CN" sz="1600" b="1">
              <a:solidFill>
                <a:schemeClr val="bg1"/>
              </a:solidFill>
              <a:latin typeface="Times New Roman" panose="02020603050405020304" pitchFamily="18" charset="0"/>
              <a:cs typeface="Times New Roman" panose="02020603050405020304" pitchFamily="18" charset="0"/>
              <a:sym typeface="+mn-ea"/>
            </a:endParaRPr>
          </a:p>
        </p:txBody>
      </p:sp>
      <p:sp>
        <p:nvSpPr>
          <p:cNvPr id="31" name="文本框 30"/>
          <p:cNvSpPr txBox="1"/>
          <p:nvPr>
            <p:custDataLst>
              <p:tags r:id="rId10"/>
            </p:custDataLst>
          </p:nvPr>
        </p:nvSpPr>
        <p:spPr>
          <a:xfrm>
            <a:off x="5101590" y="3594735"/>
            <a:ext cx="548640" cy="337185"/>
          </a:xfrm>
          <a:prstGeom prst="rect">
            <a:avLst/>
          </a:prstGeom>
          <a:noFill/>
        </p:spPr>
        <p:txBody>
          <a:bodyPr wrap="square" rtlCol="0">
            <a:spAutoFit/>
          </a:bodyPr>
          <a:p>
            <a:r>
              <a:rPr lang="en-US" altLang="zh-CN" sz="1600" b="1">
                <a:solidFill>
                  <a:schemeClr val="bg1"/>
                </a:solidFill>
                <a:latin typeface="Times New Roman" panose="02020603050405020304" pitchFamily="18" charset="0"/>
                <a:cs typeface="Times New Roman" panose="02020603050405020304" pitchFamily="18" charset="0"/>
                <a:sym typeface="+mn-ea"/>
              </a:rPr>
              <a:t>(d)</a:t>
            </a:r>
            <a:endParaRPr lang="en-US" altLang="zh-CN" sz="1600" b="1">
              <a:solidFill>
                <a:schemeClr val="bg1"/>
              </a:solidFill>
              <a:latin typeface="Times New Roman" panose="02020603050405020304" pitchFamily="18" charset="0"/>
              <a:cs typeface="Times New Roman" panose="02020603050405020304" pitchFamily="18" charset="0"/>
              <a:sym typeface="+mn-ea"/>
            </a:endParaRPr>
          </a:p>
        </p:txBody>
      </p:sp>
      <p:sp>
        <p:nvSpPr>
          <p:cNvPr id="11" name="矩形 10"/>
          <p:cNvSpPr/>
          <p:nvPr>
            <p:custDataLst>
              <p:tags r:id="rId11"/>
            </p:custDataLst>
          </p:nvPr>
        </p:nvSpPr>
        <p:spPr>
          <a:xfrm>
            <a:off x="6456680" y="1493634"/>
            <a:ext cx="5399405" cy="4572000"/>
          </a:xfrm>
          <a:prstGeom prst="rect">
            <a:avLst/>
          </a:prstGeom>
          <a:noFill/>
          <a:ln w="25400">
            <a:no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marL="342900" indent="-342900" algn="just" fontAlgn="auto">
              <a:lnSpc>
                <a:spcPct val="160000"/>
              </a:lnSpc>
              <a:buClrTx/>
              <a:buSzTx/>
              <a:buFont typeface="Wingdings" panose="05000000000000000000" charset="0"/>
              <a:buChar char="ü"/>
            </a:pPr>
            <a:r>
              <a:rPr lang="zh-CN" altLang="en-US" kern="0">
                <a:solidFill>
                  <a:schemeClr val="tx1"/>
                </a:solidFill>
                <a:uFillTx/>
                <a:latin typeface="Times New Roman" panose="02020603050405020304" pitchFamily="18" charset="0"/>
                <a:ea typeface="微软雅黑" panose="020B0503020204020204" pitchFamily="34" charset="-122"/>
                <a:sym typeface="+mn-ea"/>
              </a:rPr>
              <a:t>测试条件：</a:t>
            </a:r>
            <a:r>
              <a:rPr lang="en-US" altLang="zh-CN" kern="0">
                <a:solidFill>
                  <a:schemeClr val="tx1"/>
                </a:solidFill>
                <a:uFillTx/>
                <a:latin typeface="Times New Roman" panose="02020603050405020304" pitchFamily="18" charset="0"/>
                <a:ea typeface="微软雅黑" panose="020B0503020204020204" pitchFamily="34" charset="-122"/>
                <a:sym typeface="+mn-ea"/>
              </a:rPr>
              <a:t>500 ppm</a:t>
            </a:r>
            <a:r>
              <a:rPr lang="zh-CN" altLang="en-US" kern="0">
                <a:solidFill>
                  <a:schemeClr val="tx1"/>
                </a:solidFill>
                <a:uFillTx/>
                <a:latin typeface="Times New Roman" panose="02020603050405020304" pitchFamily="18" charset="0"/>
                <a:ea typeface="微软雅黑" panose="020B0503020204020204" pitchFamily="34" charset="-122"/>
                <a:sym typeface="+mn-ea"/>
              </a:rPr>
              <a:t>甲苯，流速</a:t>
            </a:r>
            <a:r>
              <a:rPr lang="en-US" altLang="zh-CN" kern="0">
                <a:solidFill>
                  <a:schemeClr val="tx1"/>
                </a:solidFill>
                <a:uFillTx/>
                <a:latin typeface="Times New Roman" panose="02020603050405020304" pitchFamily="18" charset="0"/>
                <a:ea typeface="微软雅黑" panose="020B0503020204020204" pitchFamily="34" charset="-122"/>
                <a:sym typeface="+mn-ea"/>
              </a:rPr>
              <a:t>100 ml/min</a:t>
            </a:r>
            <a:r>
              <a:rPr lang="zh-CN" altLang="en-US" kern="0">
                <a:solidFill>
                  <a:schemeClr val="tx1"/>
                </a:solidFill>
                <a:uFillTx/>
                <a:latin typeface="Times New Roman" panose="02020603050405020304" pitchFamily="18" charset="0"/>
                <a:ea typeface="微软雅黑" panose="020B0503020204020204" pitchFamily="34" charset="-122"/>
                <a:sym typeface="+mn-ea"/>
              </a:rPr>
              <a:t>，催化剂用量</a:t>
            </a:r>
            <a:r>
              <a:rPr lang="en-US" altLang="zh-CN" kern="0">
                <a:solidFill>
                  <a:schemeClr val="tx1"/>
                </a:solidFill>
                <a:uFillTx/>
                <a:latin typeface="Times New Roman" panose="02020603050405020304" pitchFamily="18" charset="0"/>
                <a:ea typeface="微软雅黑" panose="020B0503020204020204" pitchFamily="34" charset="-122"/>
                <a:sym typeface="+mn-ea"/>
              </a:rPr>
              <a:t>0.3 g</a:t>
            </a:r>
            <a:r>
              <a:rPr lang="zh-CN" altLang="en-US" kern="0">
                <a:solidFill>
                  <a:schemeClr val="tx1"/>
                </a:solidFill>
                <a:uFillTx/>
                <a:latin typeface="Times New Roman" panose="02020603050405020304" pitchFamily="18" charset="0"/>
                <a:ea typeface="微软雅黑" panose="020B0503020204020204" pitchFamily="34" charset="-122"/>
                <a:sym typeface="+mn-ea"/>
              </a:rPr>
              <a:t>，GHSV</a:t>
            </a:r>
            <a:r>
              <a:rPr lang="en-US" altLang="zh-CN" kern="0">
                <a:solidFill>
                  <a:schemeClr val="tx1"/>
                </a:solidFill>
                <a:uFillTx/>
                <a:latin typeface="Times New Roman" panose="02020603050405020304" pitchFamily="18" charset="0"/>
                <a:ea typeface="微软雅黑" panose="020B0503020204020204" pitchFamily="34" charset="-122"/>
                <a:sym typeface="+mn-ea"/>
              </a:rPr>
              <a:t>=20000  mL/(g</a:t>
            </a:r>
            <a:r>
              <a:rPr lang="en-US" altLang="zh-CN" kern="0">
                <a:solidFill>
                  <a:schemeClr val="tx1"/>
                </a:solidFill>
                <a:uFillTx/>
                <a:latin typeface="宋体" panose="02010600030101010101" pitchFamily="2" charset="-122"/>
                <a:ea typeface="宋体" panose="02010600030101010101" pitchFamily="2" charset="-122"/>
                <a:sym typeface="+mn-ea"/>
              </a:rPr>
              <a:t>·</a:t>
            </a:r>
            <a:r>
              <a:rPr lang="en-US" altLang="zh-CN" kern="0">
                <a:solidFill>
                  <a:schemeClr val="tx1"/>
                </a:solidFill>
                <a:uFillTx/>
                <a:latin typeface="Times New Roman" panose="02020603050405020304" pitchFamily="18" charset="0"/>
                <a:ea typeface="微软雅黑" panose="020B0503020204020204" pitchFamily="34" charset="-122"/>
                <a:sym typeface="+mn-ea"/>
              </a:rPr>
              <a:t>h)</a:t>
            </a:r>
            <a:r>
              <a:rPr lang="zh-CN" altLang="en-US" kern="0">
                <a:solidFill>
                  <a:schemeClr val="tx1"/>
                </a:solidFill>
                <a:uFillTx/>
                <a:latin typeface="Times New Roman" panose="02020603050405020304" pitchFamily="18" charset="0"/>
                <a:ea typeface="微软雅黑" panose="020B0503020204020204" pitchFamily="34" charset="-122"/>
                <a:sym typeface="+mn-ea"/>
              </a:rPr>
              <a:t>。</a:t>
            </a:r>
            <a:endParaRPr lang="en-US" altLang="zh-CN" kern="0">
              <a:solidFill>
                <a:schemeClr val="tx1"/>
              </a:solidFill>
              <a:uFillTx/>
              <a:latin typeface="Times New Roman" panose="02020603050405020304" pitchFamily="18" charset="0"/>
              <a:ea typeface="微软雅黑" panose="020B0503020204020204" pitchFamily="34" charset="-122"/>
              <a:sym typeface="+mn-ea"/>
            </a:endParaRPr>
          </a:p>
          <a:p>
            <a:pPr marL="342900" indent="-342900" algn="just" fontAlgn="auto">
              <a:lnSpc>
                <a:spcPct val="160000"/>
              </a:lnSpc>
              <a:buClrTx/>
              <a:buSzTx/>
              <a:buFont typeface="Wingdings" panose="05000000000000000000" charset="0"/>
              <a:buChar char="ü"/>
            </a:pPr>
            <a:r>
              <a:rPr lang="en-US" altLang="zh-CN" kern="0">
                <a:solidFill>
                  <a:schemeClr val="tx1"/>
                </a:solidFill>
                <a:uFillTx/>
                <a:latin typeface="Times New Roman" panose="02020603050405020304" pitchFamily="18" charset="0"/>
                <a:ea typeface="微软雅黑" panose="020B0503020204020204" pitchFamily="34" charset="-122"/>
                <a:sym typeface="+mn-ea"/>
              </a:rPr>
              <a:t>TiO</a:t>
            </a:r>
            <a:r>
              <a:rPr lang="en-US" altLang="zh-CN" kern="0" baseline="-25000">
                <a:solidFill>
                  <a:schemeClr val="tx1"/>
                </a:solidFill>
                <a:uFillTx/>
                <a:latin typeface="Times New Roman" panose="02020603050405020304" pitchFamily="18" charset="0"/>
                <a:ea typeface="微软雅黑" panose="020B0503020204020204" pitchFamily="34" charset="-122"/>
                <a:sym typeface="+mn-ea"/>
              </a:rPr>
              <a:t>2</a:t>
            </a:r>
            <a:r>
              <a:rPr lang="en-US" altLang="zh-CN" kern="0" dirty="0">
                <a:solidFill>
                  <a:schemeClr val="tx1"/>
                </a:solidFill>
                <a:uFillTx/>
                <a:latin typeface="Times New Roman" panose="02020603050405020304" pitchFamily="18" charset="0"/>
                <a:ea typeface="微软雅黑" panose="020B0503020204020204" pitchFamily="34" charset="-122"/>
                <a:sym typeface="+mn-ea"/>
              </a:rPr>
              <a:t>: </a:t>
            </a:r>
            <a:r>
              <a:rPr lang="en-US" kern="0" dirty="0">
                <a:solidFill>
                  <a:schemeClr val="tx1"/>
                </a:solidFill>
                <a:uFillTx/>
                <a:latin typeface="Times New Roman" panose="02020603050405020304" pitchFamily="18" charset="0"/>
                <a:ea typeface="微软雅黑" panose="020B0503020204020204" pitchFamily="34" charset="-122"/>
                <a:sym typeface="+mn-ea"/>
              </a:rPr>
              <a:t>MnCl</a:t>
            </a:r>
            <a:r>
              <a:rPr lang="en-US" altLang="zh-CN" kern="0" baseline="-25000">
                <a:solidFill>
                  <a:schemeClr val="tx1"/>
                </a:solidFill>
                <a:uFillTx/>
                <a:latin typeface="Times New Roman" panose="02020603050405020304" pitchFamily="18" charset="0"/>
                <a:ea typeface="微软雅黑" panose="020B0503020204020204" pitchFamily="34" charset="-122"/>
                <a:sym typeface="+mn-ea"/>
              </a:rPr>
              <a:t>2</a:t>
            </a:r>
            <a:r>
              <a:rPr lang="en-US" altLang="zh-CN" kern="0">
                <a:solidFill>
                  <a:schemeClr val="tx1"/>
                </a:solidFill>
                <a:uFillTx/>
                <a:latin typeface="Times New Roman" panose="02020603050405020304" pitchFamily="18" charset="0"/>
                <a:ea typeface="微软雅黑" panose="020B0503020204020204" pitchFamily="34" charset="-122"/>
                <a:sym typeface="+mn-ea"/>
              </a:rPr>
              <a:t>=</a:t>
            </a:r>
            <a:r>
              <a:rPr lang="en-US" altLang="zh-CN" kern="0" dirty="0">
                <a:solidFill>
                  <a:srgbClr val="FF0000"/>
                </a:solidFill>
                <a:latin typeface="Times New Roman" panose="02020603050405020304" pitchFamily="18" charset="0"/>
                <a:ea typeface="微软雅黑" panose="020B0503020204020204" pitchFamily="34" charset="-122"/>
                <a:sym typeface="+mn-ea"/>
              </a:rPr>
              <a:t>1</a:t>
            </a:r>
            <a:r>
              <a:rPr lang="zh-CN" altLang="en-US" kern="0" dirty="0">
                <a:solidFill>
                  <a:srgbClr val="FF0000"/>
                </a:solidFill>
                <a:latin typeface="Times New Roman" panose="02020603050405020304" pitchFamily="18" charset="0"/>
                <a:ea typeface="微软雅黑" panose="020B0503020204020204" pitchFamily="34" charset="-122"/>
                <a:sym typeface="+mn-ea"/>
              </a:rPr>
              <a:t>：</a:t>
            </a:r>
            <a:r>
              <a:rPr lang="en-US" altLang="zh-CN" kern="0" dirty="0">
                <a:solidFill>
                  <a:srgbClr val="FF0000"/>
                </a:solidFill>
                <a:latin typeface="Times New Roman" panose="02020603050405020304" pitchFamily="18" charset="0"/>
                <a:ea typeface="微软雅黑" panose="020B0503020204020204" pitchFamily="34" charset="-122"/>
                <a:sym typeface="+mn-ea"/>
              </a:rPr>
              <a:t>0</a:t>
            </a:r>
            <a:r>
              <a:rPr lang="en-US" altLang="zh-CN" kern="0" dirty="0">
                <a:solidFill>
                  <a:srgbClr val="FF0000"/>
                </a:solidFill>
                <a:latin typeface="Times New Roman" panose="02020603050405020304" pitchFamily="18" charset="0"/>
                <a:ea typeface="微软雅黑" panose="020B0503020204020204" pitchFamily="34" charset="-122"/>
                <a:sym typeface="+mn-ea"/>
              </a:rPr>
              <a:t>.5</a:t>
            </a:r>
            <a:r>
              <a:rPr lang="zh-CN" altLang="en-US" kern="0" dirty="0">
                <a:solidFill>
                  <a:schemeClr val="tx1"/>
                </a:solidFill>
                <a:latin typeface="Times New Roman" panose="02020603050405020304" pitchFamily="18" charset="0"/>
                <a:ea typeface="微软雅黑" panose="020B0503020204020204" pitchFamily="34" charset="-122"/>
                <a:sym typeface="+mn-ea"/>
              </a:rPr>
              <a:t>时效果最好：</a:t>
            </a:r>
            <a:r>
              <a:rPr lang="en-US" altLang="zh-CN" kern="0" dirty="0">
                <a:solidFill>
                  <a:srgbClr val="FF0000"/>
                </a:solidFill>
                <a:latin typeface="Times New Roman" panose="02020603050405020304" pitchFamily="18" charset="0"/>
                <a:ea typeface="微软雅黑" panose="020B0503020204020204" pitchFamily="34" charset="-122"/>
                <a:sym typeface="+mn-ea"/>
              </a:rPr>
              <a:t>T</a:t>
            </a:r>
            <a:r>
              <a:rPr lang="en-US" altLang="zh-CN" kern="0" baseline="-25000" dirty="0">
                <a:solidFill>
                  <a:srgbClr val="FF0000"/>
                </a:solidFill>
                <a:latin typeface="Times New Roman" panose="02020603050405020304" pitchFamily="18" charset="0"/>
                <a:ea typeface="微软雅黑" panose="020B0503020204020204" pitchFamily="34" charset="-122"/>
                <a:sym typeface="+mn-ea"/>
              </a:rPr>
              <a:t>50</a:t>
            </a:r>
            <a:r>
              <a:rPr lang="en-US" altLang="zh-CN" kern="0" dirty="0">
                <a:solidFill>
                  <a:srgbClr val="FF0000"/>
                </a:solidFill>
                <a:latin typeface="Times New Roman" panose="02020603050405020304" pitchFamily="18" charset="0"/>
                <a:ea typeface="微软雅黑" panose="020B0503020204020204" pitchFamily="34" charset="-122"/>
                <a:sym typeface="+mn-ea"/>
              </a:rPr>
              <a:t>=218 ℃</a:t>
            </a:r>
            <a:r>
              <a:rPr lang="zh-CN" altLang="en-US" kern="0" dirty="0">
                <a:solidFill>
                  <a:schemeClr val="tx1"/>
                </a:solidFill>
                <a:latin typeface="Times New Roman" panose="02020603050405020304" pitchFamily="18" charset="0"/>
                <a:ea typeface="微软雅黑" panose="020B0503020204020204" pitchFamily="34" charset="-122"/>
                <a:sym typeface="+mn-ea"/>
              </a:rPr>
              <a:t>，</a:t>
            </a:r>
            <a:r>
              <a:rPr lang="en-US" altLang="zh-CN" kern="0" dirty="0">
                <a:solidFill>
                  <a:srgbClr val="FF0000"/>
                </a:solidFill>
                <a:latin typeface="Times New Roman" panose="02020603050405020304" pitchFamily="18" charset="0"/>
                <a:ea typeface="微软雅黑" panose="020B0503020204020204" pitchFamily="34" charset="-122"/>
                <a:sym typeface="+mn-ea"/>
              </a:rPr>
              <a:t>T</a:t>
            </a:r>
            <a:r>
              <a:rPr lang="en-US" altLang="zh-CN" kern="0" baseline="-25000" dirty="0">
                <a:solidFill>
                  <a:srgbClr val="FF0000"/>
                </a:solidFill>
                <a:latin typeface="Times New Roman" panose="02020603050405020304" pitchFamily="18" charset="0"/>
                <a:ea typeface="微软雅黑" panose="020B0503020204020204" pitchFamily="34" charset="-122"/>
                <a:sym typeface="+mn-ea"/>
              </a:rPr>
              <a:t>90</a:t>
            </a:r>
            <a:r>
              <a:rPr lang="en-US" altLang="zh-CN" kern="0" dirty="0">
                <a:solidFill>
                  <a:srgbClr val="FF0000"/>
                </a:solidFill>
                <a:latin typeface="Times New Roman" panose="02020603050405020304" pitchFamily="18" charset="0"/>
                <a:ea typeface="微软雅黑" panose="020B0503020204020204" pitchFamily="34" charset="-122"/>
                <a:sym typeface="+mn-ea"/>
              </a:rPr>
              <a:t>=241 ℃</a:t>
            </a:r>
            <a:r>
              <a:rPr lang="zh-CN" altLang="en-US" kern="0" dirty="0">
                <a:solidFill>
                  <a:schemeClr val="tx1"/>
                </a:solidFill>
                <a:latin typeface="Times New Roman" panose="02020603050405020304" pitchFamily="18" charset="0"/>
                <a:ea typeface="微软雅黑" panose="020B0503020204020204" pitchFamily="34" charset="-122"/>
                <a:sym typeface="+mn-ea"/>
              </a:rPr>
              <a:t>，</a:t>
            </a:r>
            <a:r>
              <a:rPr lang="en-US" altLang="zh-CN" kern="0" dirty="0">
                <a:solidFill>
                  <a:schemeClr val="tx1"/>
                </a:solidFill>
                <a:latin typeface="Times New Roman" panose="02020603050405020304" pitchFamily="18" charset="0"/>
                <a:ea typeface="微软雅黑" panose="020B0503020204020204" pitchFamily="34" charset="-122"/>
                <a:sym typeface="+mn-ea"/>
              </a:rPr>
              <a:t>260 ℃</a:t>
            </a:r>
            <a:r>
              <a:rPr lang="zh-CN" altLang="en-US" kern="0" dirty="0">
                <a:solidFill>
                  <a:schemeClr val="tx1"/>
                </a:solidFill>
                <a:latin typeface="Times New Roman" panose="02020603050405020304" pitchFamily="18" charset="0"/>
                <a:ea typeface="微软雅黑" panose="020B0503020204020204" pitchFamily="34" charset="-122"/>
                <a:sym typeface="+mn-ea"/>
              </a:rPr>
              <a:t>完全降解。</a:t>
            </a:r>
            <a:endParaRPr lang="zh-CN" altLang="en-US" kern="0" dirty="0">
              <a:solidFill>
                <a:schemeClr val="tx1"/>
              </a:solidFill>
              <a:latin typeface="Times New Roman" panose="02020603050405020304" pitchFamily="18" charset="0"/>
              <a:ea typeface="微软雅黑" panose="020B0503020204020204" pitchFamily="34" charset="-122"/>
              <a:sym typeface="+mn-ea"/>
            </a:endParaRPr>
          </a:p>
          <a:p>
            <a:pPr marL="342900" indent="-342900" algn="just" fontAlgn="auto">
              <a:lnSpc>
                <a:spcPct val="160000"/>
              </a:lnSpc>
              <a:buClrTx/>
              <a:buSzTx/>
              <a:buFont typeface="Wingdings" panose="05000000000000000000" charset="0"/>
              <a:buChar char="ü"/>
            </a:pPr>
            <a:r>
              <a:rPr lang="zh-CN" altLang="en-US" kern="0" dirty="0">
                <a:solidFill>
                  <a:schemeClr val="tx1"/>
                </a:solidFill>
                <a:latin typeface="Times New Roman" panose="02020603050405020304" pitchFamily="18" charset="0"/>
                <a:ea typeface="微软雅黑" panose="020B0503020204020204" pitchFamily="34" charset="-122"/>
                <a:sym typeface="+mn-ea"/>
              </a:rPr>
              <a:t>纯</a:t>
            </a:r>
            <a:r>
              <a:rPr lang="en-US" kern="0" dirty="0">
                <a:solidFill>
                  <a:schemeClr val="tx1"/>
                </a:solidFill>
                <a:uFillTx/>
                <a:latin typeface="Times New Roman" panose="02020603050405020304" pitchFamily="18" charset="0"/>
                <a:ea typeface="微软雅黑" panose="020B0503020204020204" pitchFamily="34" charset="-122"/>
                <a:sym typeface="+mn-ea"/>
              </a:rPr>
              <a:t>MnCl</a:t>
            </a:r>
            <a:r>
              <a:rPr lang="en-US" altLang="zh-CN" kern="0" baseline="-25000">
                <a:solidFill>
                  <a:schemeClr val="tx1"/>
                </a:solidFill>
                <a:uFillTx/>
                <a:latin typeface="Times New Roman" panose="02020603050405020304" pitchFamily="18" charset="0"/>
                <a:ea typeface="微软雅黑" panose="020B0503020204020204" pitchFamily="34" charset="-122"/>
                <a:sym typeface="+mn-ea"/>
              </a:rPr>
              <a:t>2</a:t>
            </a:r>
            <a:r>
              <a:rPr lang="zh-CN" altLang="en-US" kern="0" dirty="0">
                <a:solidFill>
                  <a:schemeClr val="tx1"/>
                </a:solidFill>
                <a:latin typeface="Times New Roman" panose="02020603050405020304" pitchFamily="18" charset="0"/>
                <a:ea typeface="微软雅黑" panose="020B0503020204020204" pitchFamily="34" charset="-122"/>
                <a:sym typeface="+mn-ea"/>
              </a:rPr>
              <a:t>对比样测试结果：</a:t>
            </a:r>
            <a:r>
              <a:rPr lang="en-US" altLang="zh-CN" kern="0" dirty="0">
                <a:solidFill>
                  <a:srgbClr val="FF0000"/>
                </a:solidFill>
                <a:latin typeface="Times New Roman" panose="02020603050405020304" pitchFamily="18" charset="0"/>
                <a:ea typeface="微软雅黑" panose="020B0503020204020204" pitchFamily="34" charset="-122"/>
                <a:sym typeface="+mn-ea"/>
              </a:rPr>
              <a:t>T</a:t>
            </a:r>
            <a:r>
              <a:rPr lang="en-US" altLang="zh-CN" kern="0" baseline="-25000" dirty="0">
                <a:solidFill>
                  <a:srgbClr val="FF0000"/>
                </a:solidFill>
                <a:latin typeface="Times New Roman" panose="02020603050405020304" pitchFamily="18" charset="0"/>
                <a:ea typeface="微软雅黑" panose="020B0503020204020204" pitchFamily="34" charset="-122"/>
                <a:sym typeface="+mn-ea"/>
              </a:rPr>
              <a:t>50</a:t>
            </a:r>
            <a:r>
              <a:rPr lang="en-US" altLang="zh-CN" kern="0" dirty="0">
                <a:solidFill>
                  <a:srgbClr val="FF0000"/>
                </a:solidFill>
                <a:latin typeface="Times New Roman" panose="02020603050405020304" pitchFamily="18" charset="0"/>
                <a:ea typeface="微软雅黑" panose="020B0503020204020204" pitchFamily="34" charset="-122"/>
                <a:sym typeface="+mn-ea"/>
              </a:rPr>
              <a:t>=239 ℃</a:t>
            </a:r>
            <a:r>
              <a:rPr lang="zh-CN" altLang="en-US" kern="0" dirty="0">
                <a:solidFill>
                  <a:schemeClr val="tx1"/>
                </a:solidFill>
                <a:latin typeface="Times New Roman" panose="02020603050405020304" pitchFamily="18" charset="0"/>
                <a:ea typeface="微软雅黑" panose="020B0503020204020204" pitchFamily="34" charset="-122"/>
                <a:sym typeface="+mn-ea"/>
              </a:rPr>
              <a:t>，</a:t>
            </a:r>
            <a:r>
              <a:rPr lang="en-US" altLang="zh-CN" kern="0" dirty="0">
                <a:solidFill>
                  <a:srgbClr val="FF0000"/>
                </a:solidFill>
                <a:latin typeface="Times New Roman" panose="02020603050405020304" pitchFamily="18" charset="0"/>
                <a:ea typeface="微软雅黑" panose="020B0503020204020204" pitchFamily="34" charset="-122"/>
                <a:sym typeface="+mn-ea"/>
              </a:rPr>
              <a:t>T</a:t>
            </a:r>
            <a:r>
              <a:rPr lang="en-US" altLang="zh-CN" kern="0" baseline="-25000" dirty="0">
                <a:solidFill>
                  <a:srgbClr val="FF0000"/>
                </a:solidFill>
                <a:latin typeface="Times New Roman" panose="02020603050405020304" pitchFamily="18" charset="0"/>
                <a:ea typeface="微软雅黑" panose="020B0503020204020204" pitchFamily="34" charset="-122"/>
                <a:sym typeface="+mn-ea"/>
              </a:rPr>
              <a:t>90</a:t>
            </a:r>
            <a:r>
              <a:rPr lang="en-US" altLang="zh-CN" kern="0" dirty="0">
                <a:solidFill>
                  <a:srgbClr val="FF0000"/>
                </a:solidFill>
                <a:latin typeface="Times New Roman" panose="02020603050405020304" pitchFamily="18" charset="0"/>
                <a:ea typeface="微软雅黑" panose="020B0503020204020204" pitchFamily="34" charset="-122"/>
                <a:sym typeface="+mn-ea"/>
              </a:rPr>
              <a:t>=305 ℃</a:t>
            </a:r>
            <a:r>
              <a:rPr lang="zh-CN" altLang="en-US" kern="0" dirty="0">
                <a:solidFill>
                  <a:schemeClr val="tx1"/>
                </a:solidFill>
                <a:latin typeface="Times New Roman" panose="02020603050405020304" pitchFamily="18" charset="0"/>
                <a:ea typeface="微软雅黑" panose="020B0503020204020204" pitchFamily="34" charset="-122"/>
                <a:sym typeface="+mn-ea"/>
              </a:rPr>
              <a:t>，</a:t>
            </a:r>
            <a:r>
              <a:rPr lang="en-US" altLang="zh-CN" kern="0" dirty="0">
                <a:solidFill>
                  <a:schemeClr val="tx1"/>
                </a:solidFill>
                <a:latin typeface="Times New Roman" panose="02020603050405020304" pitchFamily="18" charset="0"/>
                <a:ea typeface="微软雅黑" panose="020B0503020204020204" pitchFamily="34" charset="-122"/>
                <a:sym typeface="+mn-ea"/>
              </a:rPr>
              <a:t>330 ℃</a:t>
            </a:r>
            <a:r>
              <a:rPr lang="zh-CN" altLang="en-US" kern="0" dirty="0">
                <a:solidFill>
                  <a:schemeClr val="tx1"/>
                </a:solidFill>
                <a:latin typeface="Times New Roman" panose="02020603050405020304" pitchFamily="18" charset="0"/>
                <a:ea typeface="微软雅黑" panose="020B0503020204020204" pitchFamily="34" charset="-122"/>
                <a:sym typeface="+mn-ea"/>
              </a:rPr>
              <a:t>完全降解。</a:t>
            </a:r>
            <a:endParaRPr lang="zh-CN" altLang="en-US" kern="0" dirty="0">
              <a:solidFill>
                <a:schemeClr val="tx1"/>
              </a:solidFill>
              <a:latin typeface="Times New Roman" panose="02020603050405020304" pitchFamily="18" charset="0"/>
              <a:ea typeface="微软雅黑" panose="020B0503020204020204" pitchFamily="34" charset="-122"/>
              <a:sym typeface="+mn-ea"/>
            </a:endParaRPr>
          </a:p>
          <a:p>
            <a:pPr marL="342900" indent="-342900" algn="just" fontAlgn="auto">
              <a:lnSpc>
                <a:spcPct val="160000"/>
              </a:lnSpc>
              <a:buClrTx/>
              <a:buSzTx/>
              <a:buFont typeface="Wingdings" panose="05000000000000000000" charset="0"/>
              <a:buChar char="ü"/>
            </a:pPr>
            <a:r>
              <a:rPr lang="zh-CN" altLang="en-US" kern="0" dirty="0">
                <a:solidFill>
                  <a:schemeClr val="tx1"/>
                </a:solidFill>
                <a:latin typeface="Times New Roman" panose="02020603050405020304" pitchFamily="18" charset="0"/>
                <a:ea typeface="微软雅黑" panose="020B0503020204020204" pitchFamily="34" charset="-122"/>
                <a:sym typeface="+mn-ea"/>
              </a:rPr>
              <a:t>商业</a:t>
            </a:r>
            <a:r>
              <a:rPr lang="en-US" altLang="zh-CN" kern="0" dirty="0">
                <a:solidFill>
                  <a:schemeClr val="tx1"/>
                </a:solidFill>
                <a:latin typeface="Times New Roman" panose="02020603050405020304" pitchFamily="18" charset="0"/>
                <a:ea typeface="微软雅黑" panose="020B0503020204020204" pitchFamily="34" charset="-122"/>
                <a:sym typeface="+mn-ea"/>
              </a:rPr>
              <a:t>TiO</a:t>
            </a:r>
            <a:r>
              <a:rPr lang="en-US" altLang="zh-CN" kern="0" baseline="-25000" dirty="0">
                <a:solidFill>
                  <a:schemeClr val="tx1"/>
                </a:solidFill>
                <a:latin typeface="Times New Roman" panose="02020603050405020304" pitchFamily="18" charset="0"/>
                <a:ea typeface="微软雅黑" panose="020B0503020204020204" pitchFamily="34" charset="-122"/>
                <a:sym typeface="+mn-ea"/>
              </a:rPr>
              <a:t>2</a:t>
            </a:r>
            <a:r>
              <a:rPr lang="zh-CN" altLang="en-US" kern="0" dirty="0">
                <a:solidFill>
                  <a:schemeClr val="tx1"/>
                </a:solidFill>
                <a:latin typeface="Times New Roman" panose="02020603050405020304" pitchFamily="18" charset="0"/>
                <a:ea typeface="微软雅黑" panose="020B0503020204020204" pitchFamily="34" charset="-122"/>
                <a:sym typeface="+mn-ea"/>
              </a:rPr>
              <a:t>对比样测试结果：</a:t>
            </a:r>
            <a:r>
              <a:rPr lang="en-US" altLang="zh-CN" kern="0" dirty="0">
                <a:solidFill>
                  <a:srgbClr val="FF0000"/>
                </a:solidFill>
                <a:latin typeface="Times New Roman" panose="02020603050405020304" pitchFamily="18" charset="0"/>
                <a:ea typeface="微软雅黑" panose="020B0503020204020204" pitchFamily="34" charset="-122"/>
                <a:sym typeface="+mn-ea"/>
              </a:rPr>
              <a:t>T</a:t>
            </a:r>
            <a:r>
              <a:rPr lang="en-US" altLang="zh-CN" kern="0" baseline="-25000" dirty="0">
                <a:solidFill>
                  <a:srgbClr val="FF0000"/>
                </a:solidFill>
                <a:latin typeface="Times New Roman" panose="02020603050405020304" pitchFamily="18" charset="0"/>
                <a:ea typeface="微软雅黑" panose="020B0503020204020204" pitchFamily="34" charset="-122"/>
                <a:sym typeface="+mn-ea"/>
              </a:rPr>
              <a:t>50</a:t>
            </a:r>
            <a:r>
              <a:rPr lang="en-US" altLang="zh-CN" kern="0" dirty="0">
                <a:solidFill>
                  <a:srgbClr val="FF0000"/>
                </a:solidFill>
                <a:latin typeface="Times New Roman" panose="02020603050405020304" pitchFamily="18" charset="0"/>
                <a:ea typeface="微软雅黑" panose="020B0503020204020204" pitchFamily="34" charset="-122"/>
                <a:sym typeface="+mn-ea"/>
              </a:rPr>
              <a:t>=320 ℃</a:t>
            </a:r>
            <a:r>
              <a:rPr lang="zh-CN" altLang="en-US" kern="0" dirty="0">
                <a:solidFill>
                  <a:schemeClr val="tx1"/>
                </a:solidFill>
                <a:latin typeface="Times New Roman" panose="02020603050405020304" pitchFamily="18" charset="0"/>
                <a:ea typeface="微软雅黑" panose="020B0503020204020204" pitchFamily="34" charset="-122"/>
                <a:sym typeface="+mn-ea"/>
              </a:rPr>
              <a:t>，</a:t>
            </a:r>
            <a:r>
              <a:rPr lang="en-US" altLang="zh-CN" kern="0" dirty="0">
                <a:solidFill>
                  <a:srgbClr val="FF0000"/>
                </a:solidFill>
                <a:latin typeface="Times New Roman" panose="02020603050405020304" pitchFamily="18" charset="0"/>
                <a:ea typeface="微软雅黑" panose="020B0503020204020204" pitchFamily="34" charset="-122"/>
                <a:sym typeface="+mn-ea"/>
              </a:rPr>
              <a:t>T</a:t>
            </a:r>
            <a:r>
              <a:rPr lang="en-US" altLang="zh-CN" kern="0" baseline="-25000" dirty="0">
                <a:solidFill>
                  <a:srgbClr val="FF0000"/>
                </a:solidFill>
                <a:latin typeface="Times New Roman" panose="02020603050405020304" pitchFamily="18" charset="0"/>
                <a:ea typeface="微软雅黑" panose="020B0503020204020204" pitchFamily="34" charset="-122"/>
                <a:sym typeface="+mn-ea"/>
              </a:rPr>
              <a:t>90</a:t>
            </a:r>
            <a:r>
              <a:rPr lang="en-US" altLang="zh-CN" kern="0" dirty="0">
                <a:solidFill>
                  <a:srgbClr val="FF0000"/>
                </a:solidFill>
                <a:latin typeface="Times New Roman" panose="02020603050405020304" pitchFamily="18" charset="0"/>
                <a:ea typeface="微软雅黑" panose="020B0503020204020204" pitchFamily="34" charset="-122"/>
                <a:sym typeface="+mn-ea"/>
              </a:rPr>
              <a:t>=367 ℃</a:t>
            </a:r>
            <a:r>
              <a:rPr lang="zh-CN" altLang="en-US" kern="0" dirty="0">
                <a:solidFill>
                  <a:schemeClr val="tx1"/>
                </a:solidFill>
                <a:latin typeface="Times New Roman" panose="02020603050405020304" pitchFamily="18" charset="0"/>
                <a:ea typeface="微软雅黑" panose="020B0503020204020204" pitchFamily="34" charset="-122"/>
                <a:sym typeface="+mn-ea"/>
              </a:rPr>
              <a:t>，</a:t>
            </a:r>
            <a:r>
              <a:rPr lang="en-US" altLang="zh-CN" kern="0" dirty="0">
                <a:solidFill>
                  <a:schemeClr val="tx1"/>
                </a:solidFill>
                <a:latin typeface="Times New Roman" panose="02020603050405020304" pitchFamily="18" charset="0"/>
                <a:ea typeface="微软雅黑" panose="020B0503020204020204" pitchFamily="34" charset="-122"/>
                <a:sym typeface="+mn-ea"/>
              </a:rPr>
              <a:t>380 ℃</a:t>
            </a:r>
            <a:r>
              <a:rPr lang="zh-CN" altLang="en-US" kern="0" dirty="0">
                <a:solidFill>
                  <a:schemeClr val="tx1"/>
                </a:solidFill>
                <a:latin typeface="Times New Roman" panose="02020603050405020304" pitchFamily="18" charset="0"/>
                <a:ea typeface="微软雅黑" panose="020B0503020204020204" pitchFamily="34" charset="-122"/>
                <a:sym typeface="+mn-ea"/>
              </a:rPr>
              <a:t>完全降解。</a:t>
            </a:r>
            <a:endParaRPr lang="zh-CN" altLang="en-US" kern="0" dirty="0">
              <a:solidFill>
                <a:schemeClr val="tx1"/>
              </a:solidFill>
              <a:latin typeface="Times New Roman" panose="02020603050405020304" pitchFamily="18" charset="0"/>
              <a:ea typeface="微软雅黑" panose="020B0503020204020204" pitchFamily="34" charset="-122"/>
              <a:sym typeface="+mn-ea"/>
            </a:endParaRPr>
          </a:p>
          <a:p>
            <a:pPr marL="342900" indent="-342900" algn="just" fontAlgn="auto">
              <a:lnSpc>
                <a:spcPct val="160000"/>
              </a:lnSpc>
              <a:buClrTx/>
              <a:buSzTx/>
              <a:buFont typeface="Wingdings" panose="05000000000000000000" charset="0"/>
              <a:buChar char="ü"/>
            </a:pPr>
            <a:r>
              <a:rPr lang="en-US" altLang="zh-CN" kern="0">
                <a:solidFill>
                  <a:schemeClr val="tx1"/>
                </a:solidFill>
                <a:uFillTx/>
                <a:latin typeface="Times New Roman" panose="02020603050405020304" pitchFamily="18" charset="0"/>
                <a:ea typeface="微软雅黑" panose="020B0503020204020204" pitchFamily="34" charset="-122"/>
                <a:sym typeface="+mn-ea"/>
              </a:rPr>
              <a:t>TiO</a:t>
            </a:r>
            <a:r>
              <a:rPr lang="en-US" altLang="zh-CN" kern="0" baseline="-25000">
                <a:solidFill>
                  <a:schemeClr val="tx1"/>
                </a:solidFill>
                <a:uFillTx/>
                <a:latin typeface="Times New Roman" panose="02020603050405020304" pitchFamily="18" charset="0"/>
                <a:ea typeface="微软雅黑" panose="020B0503020204020204" pitchFamily="34" charset="-122"/>
                <a:sym typeface="+mn-ea"/>
              </a:rPr>
              <a:t>2</a:t>
            </a:r>
            <a:r>
              <a:rPr lang="zh-CN" altLang="en-US" kern="0" dirty="0">
                <a:solidFill>
                  <a:schemeClr val="tx1"/>
                </a:solidFill>
                <a:latin typeface="Times New Roman" panose="02020603050405020304" pitchFamily="18" charset="0"/>
                <a:ea typeface="微软雅黑" panose="020B0503020204020204" pitchFamily="34" charset="-122"/>
                <a:sym typeface="+mn-ea"/>
              </a:rPr>
              <a:t>负载</a:t>
            </a:r>
            <a:r>
              <a:rPr lang="en-US" kern="0" dirty="0">
                <a:solidFill>
                  <a:schemeClr val="tx1"/>
                </a:solidFill>
                <a:uFillTx/>
                <a:latin typeface="Times New Roman" panose="02020603050405020304" pitchFamily="18" charset="0"/>
                <a:ea typeface="微软雅黑" panose="020B0503020204020204" pitchFamily="34" charset="-122"/>
                <a:sym typeface="+mn-ea"/>
              </a:rPr>
              <a:t>Mn</a:t>
            </a:r>
            <a:r>
              <a:rPr lang="en-US" altLang="zh-CN" kern="0">
                <a:solidFill>
                  <a:schemeClr val="tx1"/>
                </a:solidFill>
                <a:uFillTx/>
                <a:latin typeface="Times New Roman" panose="02020603050405020304" pitchFamily="18" charset="0"/>
                <a:ea typeface="微软雅黑" panose="020B0503020204020204" pitchFamily="34" charset="-122"/>
                <a:sym typeface="+mn-ea"/>
              </a:rPr>
              <a:t>O</a:t>
            </a:r>
            <a:r>
              <a:rPr lang="en-US" altLang="zh-CN" kern="0" baseline="-25000">
                <a:solidFill>
                  <a:schemeClr val="tx1"/>
                </a:solidFill>
                <a:uFillTx/>
                <a:latin typeface="Times New Roman" panose="02020603050405020304" pitchFamily="18" charset="0"/>
                <a:ea typeface="微软雅黑" panose="020B0503020204020204" pitchFamily="34" charset="-122"/>
                <a:sym typeface="+mn-ea"/>
              </a:rPr>
              <a:t>x</a:t>
            </a:r>
            <a:r>
              <a:rPr lang="zh-CN" altLang="en-US" kern="0" dirty="0">
                <a:solidFill>
                  <a:schemeClr val="tx1"/>
                </a:solidFill>
                <a:latin typeface="Times New Roman" panose="02020603050405020304" pitchFamily="18" charset="0"/>
                <a:ea typeface="微软雅黑" panose="020B0503020204020204" pitchFamily="34" charset="-122"/>
                <a:sym typeface="+mn-ea"/>
              </a:rPr>
              <a:t>不是量越多越好，相反可能导致性能的下降，推测和活性比表面积有关。</a:t>
            </a:r>
            <a:endParaRPr lang="zh-CN" altLang="en-US" kern="0" dirty="0">
              <a:solidFill>
                <a:schemeClr val="tx1"/>
              </a:solidFill>
              <a:uFillTx/>
              <a:latin typeface="Times New Roman" panose="02020603050405020304" pitchFamily="18" charset="0"/>
              <a:ea typeface="微软雅黑" panose="020B0503020204020204" pitchFamily="34" charset="-122"/>
              <a:sym typeface="+mn-ea"/>
            </a:endParaRPr>
          </a:p>
        </p:txBody>
      </p:sp>
      <p:pic>
        <p:nvPicPr>
          <p:cNvPr id="8" name="图片 7" descr="E:/oning/keyanoning/甲苯测试/测试结果/TiO2-Mn-系列/体系二降解率.tif体系二降解率"/>
          <p:cNvPicPr>
            <a:picLocks noChangeAspect="1"/>
          </p:cNvPicPr>
          <p:nvPr/>
        </p:nvPicPr>
        <p:blipFill>
          <a:blip r:embed="rId12"/>
          <a:srcRect l="8339" t="9226" r="11670" b="5224"/>
          <a:stretch>
            <a:fillRect/>
          </a:stretch>
        </p:blipFill>
        <p:spPr>
          <a:xfrm>
            <a:off x="336550" y="1283335"/>
            <a:ext cx="6120000" cy="50107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62150"/>
            <a:ext cx="12192000" cy="379158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矩形 15"/>
          <p:cNvSpPr/>
          <p:nvPr/>
        </p:nvSpPr>
        <p:spPr>
          <a:xfrm>
            <a:off x="0" y="3221143"/>
            <a:ext cx="12191153" cy="1273175"/>
          </a:xfrm>
          <a:prstGeom prst="rect">
            <a:avLst/>
          </a:prstGeom>
          <a:effectLst/>
        </p:spPr>
        <p:txBody>
          <a:bodyPr wrap="square">
            <a:spAutoFit/>
          </a:bodyPr>
          <a:lstStyle/>
          <a:p>
            <a:pPr indent="127000" algn="ctr" eaLnBrk="1" fontAlgn="auto" hangingPunct="1">
              <a:lnSpc>
                <a:spcPct val="120000"/>
              </a:lnSpc>
              <a:spcBef>
                <a:spcPts val="0"/>
              </a:spcBef>
              <a:spcAft>
                <a:spcPts val="0"/>
              </a:spcAft>
              <a:defRPr/>
            </a:pPr>
            <a:r>
              <a:rPr lang="zh-CN" sz="6400" b="1" kern="100" spc="5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敬请各位老师同学批评指正</a:t>
            </a:r>
            <a:r>
              <a:rPr lang="zh-CN" altLang="en-US" sz="6400" b="1" kern="100" spc="5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6400" b="1" kern="100" spc="5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descr="校标蓝色"/>
          <p:cNvPicPr>
            <a:picLocks noChangeAspect="1"/>
          </p:cNvPicPr>
          <p:nvPr>
            <p:custDataLst>
              <p:tags r:id="rId1"/>
            </p:custDataLst>
          </p:nvPr>
        </p:nvPicPr>
        <p:blipFill>
          <a:blip r:embed="rId2"/>
          <a:stretch>
            <a:fillRect/>
          </a:stretch>
        </p:blipFill>
        <p:spPr>
          <a:xfrm>
            <a:off x="3407593" y="259080"/>
            <a:ext cx="5376815" cy="1440000"/>
          </a:xfrm>
          <a:prstGeom prst="rect">
            <a:avLst/>
          </a:prstGeom>
        </p:spPr>
      </p:pic>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DIAGRAM_VIRTUALLY_FRAME" val="{&quot;height&quot;:260.291748046875,&quot;left&quot;:462.45,&quot;top&quot;:147.7,&quot;width&quot;:422.3622131347656}"/>
</p:tagLst>
</file>

<file path=ppt/tags/tag3.xml><?xml version="1.0" encoding="utf-8"?>
<p:tagLst xmlns:p="http://schemas.openxmlformats.org/presentationml/2006/main">
  <p:tag name="KSO_WM_DIAGRAM_VIRTUALLY_FRAME" val="{&quot;height&quot;:260.291748046875,&quot;left&quot;:462.45,&quot;top&quot;:147.7,&quot;width&quot;:422.3622131347656}"/>
</p:tagLst>
</file>

<file path=ppt/tags/tag4.xml><?xml version="1.0" encoding="utf-8"?>
<p:tagLst xmlns:p="http://schemas.openxmlformats.org/presentationml/2006/main">
  <p:tag name="KSO_WM_DIAGRAM_VIRTUALLY_FRAME" val="{&quot;height&quot;:260.291748046875,&quot;left&quot;:462.45,&quot;top&quot;:147.7,&quot;width&quot;:422.3622131347656}"/>
</p:tagLst>
</file>

<file path=ppt/tags/tag5.xml><?xml version="1.0" encoding="utf-8"?>
<p:tagLst xmlns:p="http://schemas.openxmlformats.org/presentationml/2006/main">
  <p:tag name="KSO_WM_DIAGRAM_VIRTUALLY_FRAME" val="{&quot;height&quot;:260.291748046875,&quot;left&quot;:462.45,&quot;top&quot;:147.7,&quot;width&quot;:422.3622131347656}"/>
</p:tagLst>
</file>

<file path=ppt/tags/tag6.xml><?xml version="1.0" encoding="utf-8"?>
<p:tagLst xmlns:p="http://schemas.openxmlformats.org/presentationml/2006/main">
  <p:tag name="KSO_WM_DIAGRAM_VIRTUALLY_FRAME" val="{&quot;height&quot;:260.291748046875,&quot;left&quot;:462.45,&quot;top&quot;:147.7,&quot;width&quot;:422.3622131347656}"/>
</p:tagLst>
</file>

<file path=ppt/tags/tag7.xml><?xml version="1.0" encoding="utf-8"?>
<p:tagLst xmlns:p="http://schemas.openxmlformats.org/presentationml/2006/main">
  <p:tag name="KSO_WM_DIAGRAM_VIRTUALLY_FRAME" val="{&quot;height&quot;:260.291748046875,&quot;left&quot;:462.45,&quot;top&quot;:147.7,&quot;width&quot;:422.3622131347656}"/>
</p:tagLst>
</file>

<file path=ppt/tags/tag8.xml><?xml version="1.0" encoding="utf-8"?>
<p:tagLst xmlns:p="http://schemas.openxmlformats.org/presentationml/2006/main">
  <p:tag name="KSO_WM_DIAGRAM_VIRTUALLY_FRAME" val="{&quot;height&quot;:260.291748046875,&quot;left&quot;:462.45,&quot;top&quot;:147.7,&quot;width&quot;:422.3622131347656}"/>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PP_MARK_KEY" val="29c99177-91e9-41da-8e04-a9beea1c1fe0"/>
  <p:tag name="COMMONDATA" val="eyJoZGlkIjoiNmE4YWE2NWM2NjkyMzUxOGRkNDNkNjJlMmYxYjJlZDkifQ=="/>
  <p:tag name="commondata" val="eyJoZGlkIjoiYzRkNjkzMzJkMjgwNzEzMjMxZTMwN2VkYmQxMDhmY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1025</Words>
  <Application>WPS 演示</Application>
  <PresentationFormat>宽屏</PresentationFormat>
  <Paragraphs>90</Paragraphs>
  <Slides>5</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vt:i4>
      </vt:variant>
    </vt:vector>
  </HeadingPairs>
  <TitlesOfParts>
    <vt:vector size="24" baseType="lpstr">
      <vt:lpstr>Arial</vt:lpstr>
      <vt:lpstr>宋体</vt:lpstr>
      <vt:lpstr>Wingdings</vt:lpstr>
      <vt:lpstr>思源黑体 CN Normal</vt:lpstr>
      <vt:lpstr>Arial</vt:lpstr>
      <vt:lpstr>黑体</vt:lpstr>
      <vt:lpstr>微软雅黑</vt:lpstr>
      <vt:lpstr>仿宋</vt:lpstr>
      <vt:lpstr>Times New Roman</vt:lpstr>
      <vt:lpstr>字魂59号-创粗黑</vt:lpstr>
      <vt:lpstr>David</vt:lpstr>
      <vt:lpstr>Arial Black</vt:lpstr>
      <vt:lpstr>Calibri</vt:lpstr>
      <vt:lpstr>Wingdings</vt:lpstr>
      <vt:lpstr>等线</vt:lpstr>
      <vt:lpstr>Arial Unicode MS</vt:lpstr>
      <vt:lpstr>等线 Light</vt:lpstr>
      <vt:lpstr>Segoe Print</vt:lpstr>
      <vt:lpstr>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董洋</dc:creator>
  <cp:lastModifiedBy>Reco</cp:lastModifiedBy>
  <cp:revision>520</cp:revision>
  <dcterms:created xsi:type="dcterms:W3CDTF">2020-08-21T00:34:00Z</dcterms:created>
  <dcterms:modified xsi:type="dcterms:W3CDTF">2025-04-16T01:19:09Z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9C74A3FD9D5C46E18DA6ABA7F5B5FC02_13</vt:lpwstr>
  </property>
  <property fmtid="{D5CDD505-2E9C-101B-9397-08002B2CF9AE}" pid="3" name="KSOProductBuildVer">
    <vt:lpwstr>2052-12.1.0.16250</vt:lpwstr>
  </property>
</Properties>
</file>